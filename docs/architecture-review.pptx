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562533ff3cb458e" /><Relationship Type="http://schemas.openxmlformats.org/officeDocument/2006/relationships/extended-properties" Target="/docProps/app.xml" Id="Rc19c16141cc64719" /><Relationship Type="http://schemas.openxmlformats.org/officeDocument/2006/relationships/officeDocument" Target="/ppt/presentation.xml" Id="Re308ccbc9d07442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bb423931d54481b"/>
  </p:sldMasterIdLst>
  <p:notesMasterIdLst>
    <p:notesMasterId xmlns:r="http://schemas.openxmlformats.org/officeDocument/2006/relationships" r:id="R1fa46864e208452b"/>
  </p:notesMasterIdLst>
  <p:sldIdLst>
    <p:sldId xmlns:r="http://schemas.openxmlformats.org/officeDocument/2006/relationships" id="256" r:id="Rd3d3bcca444c4b36"/>
    <p:sldId xmlns:r="http://schemas.openxmlformats.org/officeDocument/2006/relationships" id="257" r:id="R5bde3ebc48a44d68"/>
    <p:sldId xmlns:r="http://schemas.openxmlformats.org/officeDocument/2006/relationships" id="258" r:id="R2a610f7bc5314dd8"/>
    <p:sldId xmlns:r="http://schemas.openxmlformats.org/officeDocument/2006/relationships" id="259" r:id="R91ea2b8bfc1d499c"/>
    <p:sldId xmlns:r="http://schemas.openxmlformats.org/officeDocument/2006/relationships" id="260" r:id="R0597ea50869d4390"/>
    <p:sldId xmlns:r="http://schemas.openxmlformats.org/officeDocument/2006/relationships" id="261" r:id="Rd1d8007f4dcd4167"/>
    <p:sldId xmlns:r="http://schemas.openxmlformats.org/officeDocument/2006/relationships" id="262" r:id="Ra60ed54e6521437b"/>
    <p:sldId xmlns:r="http://schemas.openxmlformats.org/officeDocument/2006/relationships" id="263" r:id="R820704298e664a3a"/>
    <p:sldId xmlns:r="http://schemas.openxmlformats.org/officeDocument/2006/relationships" id="264" r:id="R90d4736a47734e5e"/>
    <p:sldId xmlns:r="http://schemas.openxmlformats.org/officeDocument/2006/relationships" id="265" r:id="R309ffa2c00c048fb"/>
    <p:sldId xmlns:r="http://schemas.openxmlformats.org/officeDocument/2006/relationships" id="266" r:id="R53a7c885080a4e4e"/>
    <p:sldId xmlns:r="http://schemas.openxmlformats.org/officeDocument/2006/relationships" id="267" r:id="R8f63f5514e8e4484"/>
    <p:sldId xmlns:r="http://schemas.openxmlformats.org/officeDocument/2006/relationships" id="268" r:id="Rb370e37032744694"/>
    <p:sldId xmlns:r="http://schemas.openxmlformats.org/officeDocument/2006/relationships" id="269" r:id="R5336e19fdc294fdb"/>
    <p:sldId xmlns:r="http://schemas.openxmlformats.org/officeDocument/2006/relationships" id="270" r:id="R1069ca81a2c54d8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1341dd9b9ff4631" /><Relationship Type="http://schemas.openxmlformats.org/officeDocument/2006/relationships/slideMaster" Target="/ppt/slideMasters/slideMaster1.xml" Id="R8bb423931d54481b" /><Relationship Type="http://schemas.openxmlformats.org/officeDocument/2006/relationships/notesMaster" Target="/ppt/notesMasters/notesMaster1.xml" Id="R1fa46864e208452b" /><Relationship Type="http://schemas.openxmlformats.org/officeDocument/2006/relationships/presProps" Target="/ppt/presProps.xml" Id="R71eeb8e5f67f4572" /><Relationship Type="http://schemas.openxmlformats.org/officeDocument/2006/relationships/tableStyles" Target="/ppt/tableStyles.xml" Id="Rdafc797c6414467e" /><Relationship Type="http://schemas.openxmlformats.org/officeDocument/2006/relationships/slide" Target="/ppt/slides/slide1.xml" Id="Rd3d3bcca444c4b36" /><Relationship Type="http://schemas.openxmlformats.org/officeDocument/2006/relationships/slide" Target="/ppt/slides/slide2.xml" Id="R5bde3ebc48a44d68" /><Relationship Type="http://schemas.openxmlformats.org/officeDocument/2006/relationships/slide" Target="/ppt/slides/slide3.xml" Id="R2a610f7bc5314dd8" /><Relationship Type="http://schemas.openxmlformats.org/officeDocument/2006/relationships/slide" Target="/ppt/slides/slide4.xml" Id="R91ea2b8bfc1d499c" /><Relationship Type="http://schemas.openxmlformats.org/officeDocument/2006/relationships/slide" Target="/ppt/slides/slide5.xml" Id="R0597ea50869d4390" /><Relationship Type="http://schemas.openxmlformats.org/officeDocument/2006/relationships/slide" Target="/ppt/slides/slide6.xml" Id="Rd1d8007f4dcd4167" /><Relationship Type="http://schemas.openxmlformats.org/officeDocument/2006/relationships/slide" Target="/ppt/slides/slide7.xml" Id="Ra60ed54e6521437b" /><Relationship Type="http://schemas.openxmlformats.org/officeDocument/2006/relationships/slide" Target="/ppt/slides/slide8.xml" Id="R820704298e664a3a" /><Relationship Type="http://schemas.openxmlformats.org/officeDocument/2006/relationships/slide" Target="/ppt/slides/slide9.xml" Id="R90d4736a47734e5e" /><Relationship Type="http://schemas.openxmlformats.org/officeDocument/2006/relationships/slide" Target="/ppt/slides/slide10.xml" Id="R309ffa2c00c048fb" /><Relationship Type="http://schemas.openxmlformats.org/officeDocument/2006/relationships/slide" Target="/ppt/slides/slide11.xml" Id="R53a7c885080a4e4e" /><Relationship Type="http://schemas.openxmlformats.org/officeDocument/2006/relationships/slide" Target="/ppt/slides/slide12.xml" Id="R8f63f5514e8e4484" /><Relationship Type="http://schemas.openxmlformats.org/officeDocument/2006/relationships/slide" Target="/ppt/slides/slide13.xml" Id="Rb370e37032744694" /><Relationship Type="http://schemas.openxmlformats.org/officeDocument/2006/relationships/slide" Target="/ppt/slides/slide14.xml" Id="R5336e19fdc294fdb" /><Relationship Type="http://schemas.openxmlformats.org/officeDocument/2006/relationships/slide" Target="/ppt/slides/slide15.xml" Id="R1069ca81a2c54d8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9b078c4b98e4af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d70806dae4a4a81" /><Relationship Type="http://schemas.openxmlformats.org/officeDocument/2006/relationships/notesMaster" Target="/ppt/notesMasters/notesMaster1.xml" Id="Rdb2170c588c94f6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d023b13114a434e" /><Relationship Type="http://schemas.openxmlformats.org/officeDocument/2006/relationships/notesMaster" Target="/ppt/notesMasters/notesMaster1.xml" Id="R792388563ef7456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6cce6e735404b2a" /><Relationship Type="http://schemas.openxmlformats.org/officeDocument/2006/relationships/notesMaster" Target="/ppt/notesMasters/notesMaster1.xml" Id="R8761e2b3d739444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104e82664f74744" /><Relationship Type="http://schemas.openxmlformats.org/officeDocument/2006/relationships/notesMaster" Target="/ppt/notesMasters/notesMaster1.xml" Id="Rae814e20cc384bb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b475b4e18294a7d" /><Relationship Type="http://schemas.openxmlformats.org/officeDocument/2006/relationships/notesMaster" Target="/ppt/notesMasters/notesMaster1.xml" Id="Rdd70b9c2283d4b2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d6c1ccd9ab24cc4" /><Relationship Type="http://schemas.openxmlformats.org/officeDocument/2006/relationships/notesMaster" Target="/ppt/notesMasters/notesMaster1.xml" Id="R6bf7a9c794c3458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38d03034c564a84" /><Relationship Type="http://schemas.openxmlformats.org/officeDocument/2006/relationships/notesMaster" Target="/ppt/notesMasters/notesMaster1.xml" Id="R11d45d9806b4404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f69280856e743f5" /><Relationship Type="http://schemas.openxmlformats.org/officeDocument/2006/relationships/notesMaster" Target="/ppt/notesMasters/notesMaster1.xml" Id="R2e3320ebb60f48e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68d34568887418f" /><Relationship Type="http://schemas.openxmlformats.org/officeDocument/2006/relationships/notesMaster" Target="/ppt/notesMasters/notesMaster1.xml" Id="R59bb0ed0bd074d5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d41ca60dae043a8" /><Relationship Type="http://schemas.openxmlformats.org/officeDocument/2006/relationships/notesMaster" Target="/ppt/notesMasters/notesMaster1.xml" Id="R2284d064331f458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1a6ea3d25224d2b" /><Relationship Type="http://schemas.openxmlformats.org/officeDocument/2006/relationships/notesMaster" Target="/ppt/notesMasters/notesMaster1.xml" Id="R440836019b7a4d7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1a324ff6a3847af" /><Relationship Type="http://schemas.openxmlformats.org/officeDocument/2006/relationships/notesMaster" Target="/ppt/notesMasters/notesMaster1.xml" Id="R7bcfa7533292450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6f35495bea94b5b" /><Relationship Type="http://schemas.openxmlformats.org/officeDocument/2006/relationships/notesMaster" Target="/ppt/notesMasters/notesMaster1.xml" Id="R6d6505245f8c421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ff3bd0575bb4966" /><Relationship Type="http://schemas.openxmlformats.org/officeDocument/2006/relationships/notesMaster" Target="/ppt/notesMasters/notesMaster1.xml" Id="R9d11320d044c480d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c341f98b56bf493c" /><Relationship Type="http://schemas.openxmlformats.org/officeDocument/2006/relationships/notesMaster" Target="/ppt/notesMasters/notesMaster1.xml" Id="Recabeac1f2644cd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Repository: https://github.com/Linxiushen/harnesslab</a:t>
            </a:r>
          </a:p>
          <a:p xmlns:a="http://schemas.openxmlformats.org/drawingml/2006/main">
            <a:r>
              <a:t>- docs/ARCHITECTURE.md</a:t>
            </a:r>
          </a:p>
          <a:p xmlns:a="http://schemas.openxmlformats.org/drawingml/2006/main">
            <a:r>
              <a:t>- DeepSeek public API adapter; no claim of compatibility with an unpublished Harness protocol.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</a:t>
            </a:r>
          </a:p>
          <a:p xmlns:a="http://schemas.openxmlformats.org/drawingml/2006/main">
            <a:r>
              <a:t>- docs/AGENTIC_CONTROL_PLANE.md</a:t>
            </a:r>
          </a:p>
          <a:p xmlns:a="http://schemas.openxmlformats.org/drawingml/2006/main">
            <a:r>
              <a:t>- pytest and CLI outputs generated on 2026-08-14.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docs/COMMUNITY_REQUIREMENTS.md</a:t>
            </a:r>
          </a:p>
          <a:p xmlns:a="http://schemas.openxmlformats.org/drawingml/2006/main">
            <a:r>
              <a:t>- Pi issue #550, #803, #118, #2714, #2928, #3214: https://github.com/badlogic/pi-mono/issues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docs/ARCHITECTURE.md</a:t>
            </a:r>
          </a:p>
          <a:p xmlns:a="http://schemas.openxmlformats.org/drawingml/2006/main">
            <a:r>
              <a:t>- src/harnesslab/agentic/service.py</a:t>
            </a:r>
          </a:p>
          <a:p xmlns:a="http://schemas.openxmlformats.org/drawingml/2006/main">
            <a:r>
              <a:t>- src/harnesslab/agentic/contracts.py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docs/AGENTIC_CONTROL_PLANE.md</a:t>
            </a:r>
          </a:p>
          <a:p xmlns:a="http://schemas.openxmlformats.org/drawingml/2006/main">
            <a:r>
              <a:t>- src/harnesslab/agentic/service.py</a:t>
            </a:r>
          </a:p>
          <a:p xmlns:a="http://schemas.openxmlformats.org/drawingml/2006/main">
            <a:r>
              <a:t>- src/harnesslab/agentic/scheduler.py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docs/ARCHITECTURE.md</a:t>
            </a:r>
          </a:p>
          <a:p xmlns:a="http://schemas.openxmlformats.org/drawingml/2006/main">
            <a:r>
              <a:t>- src/harnesslab/agentic/schema.py</a:t>
            </a:r>
          </a:p>
          <a:p xmlns:a="http://schemas.openxmlformats.org/drawingml/2006/main">
            <a:r>
              <a:t>- src/harnesslab/runtime.py</a:t>
            </a:r>
          </a:p>
          <a:p xmlns:a="http://schemas.openxmlformats.org/drawingml/2006/main">
            <a:r>
              <a:t>- Pi issue #3214 and #2928: https://github.com/badlogic/pi-mono/issues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docs/DEEPSEEK_INTERVIEW_PLAYBOOK.zh-CN.md</a:t>
            </a:r>
          </a:p>
          <a:p xmlns:a="http://schemas.openxmlformats.org/drawingml/2006/main">
            <a:r>
              <a:t>- src/harnesslab/agentic/memory.py</a:t>
            </a:r>
          </a:p>
          <a:p xmlns:a="http://schemas.openxmlformats.org/drawingml/2006/main">
            <a:r>
              <a:t>- src/harnesslab/agentic/evals.py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SECURITY.md</a:t>
            </a:r>
          </a:p>
          <a:p xmlns:a="http://schemas.openxmlformats.org/drawingml/2006/main">
            <a:r>
              <a:t>- src/harnesslab/agentic/security.py</a:t>
            </a:r>
          </a:p>
          <a:p xmlns:a="http://schemas.openxmlformats.org/drawingml/2006/main">
            <a:r>
              <a:t>- tests/test_agentic_security.py</a:t>
            </a:r>
          </a:p>
          <a:p xmlns:a="http://schemas.openxmlformats.org/drawingml/2006/main">
            <a:r>
              <a:t>- docs/OPERATIONS.md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docs/AGENTIC_CONTROL_PLANE.md</a:t>
            </a:r>
          </a:p>
          <a:p xmlns:a="http://schemas.openxmlformats.org/drawingml/2006/main">
            <a:r>
              <a:t>- src/harnesslab/agentic/scheduler.py</a:t>
            </a:r>
          </a:p>
          <a:p xmlns:a="http://schemas.openxmlformats.org/drawingml/2006/main">
            <a:r>
              <a:t>- src/harnesslab/agentic/scenarios.py</a:t>
            </a:r>
          </a:p>
          <a:p xmlns:a="http://schemas.openxmlformats.org/drawingml/2006/main">
            <a:r>
              <a:t>- harnesslab agent-eval output: 9/9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docs/TRACE_CONTRACT.md</a:t>
            </a:r>
          </a:p>
          <a:p xmlns:a="http://schemas.openxmlformats.org/drawingml/2006/main">
            <a:r>
              <a:t>- src/harnesslab/trace_contract.py</a:t>
            </a:r>
          </a:p>
          <a:p xmlns:a="http://schemas.openxmlformats.org/drawingml/2006/main">
            <a:r>
              <a:t>- src/harnesslab/agentic/artifact.py</a:t>
            </a:r>
          </a:p>
          <a:p xmlns:a="http://schemas.openxmlformats.org/drawingml/2006/main">
            <a:r>
              <a:t>- docs/AGENTIC_CONTROL_PLANE.md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docs/COMMUNITY_REQUIREMENTS.md</a:t>
            </a:r>
          </a:p>
          <a:p xmlns:a="http://schemas.openxmlformats.org/drawingml/2006/main">
            <a:r>
              <a:t>- Public Pi GitHub issues linked in the evidence matrix.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</a:t>
            </a:r>
          </a:p>
          <a:p xmlns:a="http://schemas.openxmlformats.org/drawingml/2006/main">
            <a:r>
              <a:t>- src/harnesslab/adapters/deepseek.py</a:t>
            </a:r>
          </a:p>
          <a:p xmlns:a="http://schemas.openxmlformats.org/drawingml/2006/main">
            <a:r>
              <a:t>- src/harnesslab/adapters/openai_compatible.py</a:t>
            </a:r>
          </a:p>
          <a:p xmlns:a="http://schemas.openxmlformats.org/drawingml/2006/main">
            <a:r>
              <a:t>- docs/ARCHITECTURE.md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pytest -q output: 53 passed</a:t>
            </a:r>
          </a:p>
          <a:p xmlns:a="http://schemas.openxmlformats.org/drawingml/2006/main">
            <a:r>
              <a:t>- harnesslab agent-eval output: 9/9</a:t>
            </a:r>
          </a:p>
          <a:p xmlns:a="http://schemas.openxmlformats.org/drawingml/2006/main">
            <a:r>
              <a:t>- harnesslab check --adapter demo output: 10/10</a:t>
            </a:r>
          </a:p>
          <a:p xmlns:a="http://schemas.openxmlformats.org/drawingml/2006/main">
            <a:r>
              <a:t>- docs/OPERATIONS.md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PowerShell line count generated from repository scope on 2026-08-14.</a:t>
            </a:r>
          </a:p>
          <a:p xmlns:a="http://schemas.openxmlformats.org/drawingml/2006/main">
            <a:r>
              <a:t>- CONTRIBUTING.md</a:t>
            </a:r>
          </a:p>
          <a:p xmlns:a="http://schemas.openxmlformats.org/drawingml/2006/main">
            <a:r>
              <a:t>- docs/ARCHITECTURE.md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</a:t>
            </a:r>
          </a:p>
          <a:p xmlns:a="http://schemas.openxmlformats.org/drawingml/2006/main">
            <a:r>
              <a:t>- docs/COMMUNITY_REQUIREMENTS.md</a:t>
            </a:r>
          </a:p>
          <a:p xmlns:a="http://schemas.openxmlformats.org/drawingml/2006/main">
            <a:r>
              <a:t>- docs/OPERATIONS.md</a:t>
            </a:r>
          </a:p>
          <a:p xmlns:a="http://schemas.openxmlformats.org/drawingml/2006/main">
            <a:r>
              <a:t>- docs/ARCHITECTURE.md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b25372bf2554f4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147ab9598b640b3" /><Relationship Type="http://schemas.openxmlformats.org/officeDocument/2006/relationships/slideLayout" Target="/ppt/slideLayouts/slideLayout1.xml" Id="R7b91a2dcc3294df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b91a2dcc3294df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7c72ddd73e4cd8" /><Relationship Type="http://schemas.openxmlformats.org/officeDocument/2006/relationships/notesSlide" Target="/ppt/notesSlides/notesSlide1.xml" Id="Rc1e6f20ef92e4c1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fcf7fdafbe416a" /><Relationship Type="http://schemas.openxmlformats.org/officeDocument/2006/relationships/notesSlide" Target="/ppt/notesSlides/notesSlide2.xml" Id="R14b6e0e36b084c8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a1939a49f44886" /><Relationship Type="http://schemas.openxmlformats.org/officeDocument/2006/relationships/notesSlide" Target="/ppt/notesSlides/notesSlide3.xml" Id="R6aec9ff92d5f472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115a3ef8264051" /><Relationship Type="http://schemas.openxmlformats.org/officeDocument/2006/relationships/notesSlide" Target="/ppt/notesSlides/notesSlide4.xml" Id="R5fe7504dcb704f8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2ed3eec2f54808" /><Relationship Type="http://schemas.openxmlformats.org/officeDocument/2006/relationships/notesSlide" Target="/ppt/notesSlides/notesSlide5.xml" Id="R1e84847fc0e448f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5d68da0b0c4165" /><Relationship Type="http://schemas.openxmlformats.org/officeDocument/2006/relationships/notesSlide" Target="/ppt/notesSlides/notesSlide6.xml" Id="R797924b50cba4f1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17e950e4ba4168" /><Relationship Type="http://schemas.openxmlformats.org/officeDocument/2006/relationships/notesSlide" Target="/ppt/notesSlides/notesSlide7.xml" Id="R302365f514c145e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02e21d073c4650" /><Relationship Type="http://schemas.openxmlformats.org/officeDocument/2006/relationships/notesSlide" Target="/ppt/notesSlides/notesSlide8.xml" Id="Re3318dbd70cf475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653b41c5b940a4" /><Relationship Type="http://schemas.openxmlformats.org/officeDocument/2006/relationships/notesSlide" Target="/ppt/notesSlides/notesSlide9.xml" Id="R9c1afe212f4d45a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e959e1c8324d9f" /><Relationship Type="http://schemas.openxmlformats.org/officeDocument/2006/relationships/notesSlide" Target="/ppt/notesSlides/notesSlide10.xml" Id="R1e26d131291e45d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7655323c084bd6" /><Relationship Type="http://schemas.openxmlformats.org/officeDocument/2006/relationships/notesSlide" Target="/ppt/notesSlides/notesSlide11.xml" Id="Rb3b3b2fbd75548c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11647b673745e4" /><Relationship Type="http://schemas.openxmlformats.org/officeDocument/2006/relationships/notesSlide" Target="/ppt/notesSlides/notesSlide12.xml" Id="R645bdecb82514b9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bc291368874052" /><Relationship Type="http://schemas.openxmlformats.org/officeDocument/2006/relationships/notesSlide" Target="/ppt/notesSlides/notesSlide13.xml" Id="R2b69452813c242b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f136ec7fe14f08" /><Relationship Type="http://schemas.openxmlformats.org/officeDocument/2006/relationships/notesSlide" Target="/ppt/notesSlides/notesSlide14.xml" Id="R609885577d4d4926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84678a8e624025" /><Relationship Type="http://schemas.openxmlformats.org/officeDocument/2006/relationships/notesSlide" Target="/ppt/notesSlides/notesSlide15.xml" Id="Rd871d8600c2f413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0F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cover-rule">
            <a:extLst xmlns:a="http://schemas.openxmlformats.org/drawingml/2006/main">
              <a:ext uri="{FF2B5EF4-FFF2-40B4-BE49-F238E27FC236}">
                <a16:creationId xmlns:a16="http://schemas.microsoft.com/office/drawing/2014/main" id="{B1F23811-5D89-4CB4-8EB5-118EC7C1F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1272BB21-0F14-47B2-9403-608FEC16C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8EB5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8EB5FF"/>
                </a:solidFill>
                <a:latin typeface="Microsoft YaHei"/>
                <a:ea typeface="Microsoft YaHei"/>
                <a:cs typeface="Microsoft YaHei"/>
              </a:rPr>
              <a:t>MICROSOFT-LEVEL ARCHITECTURE REVIEW</a:t>
            </a:r>
          </a:p>
        </p:txBody>
      </p:sp>
      <p:sp>
        <p:nvSpPr>
          <p:cNvPr id="3" name="cover-title">
            <a:extLst xmlns:a="http://schemas.openxmlformats.org/drawingml/2006/main">
              <a:ext uri="{FF2B5EF4-FFF2-40B4-BE49-F238E27FC236}">
                <a16:creationId xmlns:a16="http://schemas.microsoft.com/office/drawing/2014/main" id="{487ECA0F-41F3-4D83-8951-F930FAE0E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23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HarnessLab</a:t>
            </a:r>
          </a:p>
        </p:txBody>
      </p:sp>
      <p:sp>
        <p:nvSpPr>
          <p:cNvPr id="4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6CC0EA74-34E1-44CA-8BEB-7AD14C91B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00350"/>
            <a:ext cx="7620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D7E2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D7E2F2"/>
                </a:solidFill>
                <a:latin typeface="Microsoft YaHei"/>
                <a:ea typeface="Microsoft YaHei"/>
                <a:cs typeface="Microsoft YaHei"/>
              </a:rPr>
              <a:t>Agentic control plane for production workflows</a:t>
            </a:r>
          </a:p>
        </p:txBody>
      </p:sp>
      <p:sp>
        <p:nvSpPr>
          <p:cNvPr id="5" name="cover-line">
            <a:extLst xmlns:a="http://schemas.openxmlformats.org/drawingml/2006/main">
              <a:ext uri="{FF2B5EF4-FFF2-40B4-BE49-F238E27FC236}">
                <a16:creationId xmlns:a16="http://schemas.microsoft.com/office/drawing/2014/main" id="{5BE766C0-8131-4733-B362-696D7E963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62350"/>
            <a:ext cx="695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AA8B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AA8BB"/>
                </a:solidFill>
                <a:latin typeface="Microsoft YaHei"/>
                <a:ea typeface="Microsoft YaHei"/>
                <a:cs typeface="Microsoft YaHei"/>
              </a:rPr>
              <a:t>Pi-style runtime loop  ×  provider-neutral contracts  ×  DeepSeek API</a:t>
            </a:r>
          </a:p>
        </p:txBody>
      </p:sp>
      <p:sp>
        <p:nvSpPr>
          <p:cNvPr id="6" name="cover-panel">
            <a:extLst xmlns:a="http://schemas.openxmlformats.org/drawingml/2006/main">
              <a:ext uri="{FF2B5EF4-FFF2-40B4-BE49-F238E27FC236}">
                <a16:creationId xmlns:a16="http://schemas.microsoft.com/office/drawing/2014/main" id="{22F30A04-5F99-4CD2-A505-EFE66C020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390650"/>
            <a:ext cx="3143250" cy="396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B28"/>
          </a:solidFill>
          <a:ln xmlns:a="http://schemas.openxmlformats.org/drawingml/2006/main" w="9525">
            <a:solidFill>
              <a:srgbClr val="2A3D5A"/>
            </a:solidFill>
            <a:prstDash val="solid"/>
          </a:ln>
        </p:spPr>
      </p:sp>
      <p:sp>
        <p:nvSpPr>
          <p:cNvPr id="7" name="cover-panel-label">
            <a:extLst xmlns:a="http://schemas.openxmlformats.org/drawingml/2006/main">
              <a:ext uri="{FF2B5EF4-FFF2-40B4-BE49-F238E27FC236}">
                <a16:creationId xmlns:a16="http://schemas.microsoft.com/office/drawing/2014/main" id="{F607C1CB-1736-4708-90DF-687C20672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752600"/>
            <a:ext cx="232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EB5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8EB5FF"/>
                </a:solidFill>
                <a:latin typeface="Microsoft YaHei"/>
                <a:ea typeface="Microsoft YaHei"/>
                <a:cs typeface="Microsoft YaHei"/>
              </a:rPr>
              <a:t>THE CONTRACT</a:t>
            </a:r>
          </a:p>
        </p:txBody>
      </p:sp>
      <p:sp>
        <p:nvSpPr>
          <p:cNvPr id="8" name="cover-panel-title">
            <a:extLst xmlns:a="http://schemas.openxmlformats.org/drawingml/2006/main">
              <a:ext uri="{FF2B5EF4-FFF2-40B4-BE49-F238E27FC236}">
                <a16:creationId xmlns:a16="http://schemas.microsoft.com/office/drawing/2014/main" id="{5D7C2C25-5320-4AC2-B392-1A47DE4FD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209800"/>
            <a:ext cx="2381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Run it.</a:t>
            </a:r>
          </a:p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Recover it.</a:t>
            </a:r>
          </a:p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Prove it.</a:t>
            </a:r>
          </a:p>
        </p:txBody>
      </p:sp>
      <p:sp>
        <p:nvSpPr>
          <p:cNvPr id="9" name="cover-panel-rule">
            <a:extLst xmlns:a="http://schemas.openxmlformats.org/drawingml/2006/main">
              <a:ext uri="{FF2B5EF4-FFF2-40B4-BE49-F238E27FC236}">
                <a16:creationId xmlns:a16="http://schemas.microsoft.com/office/drawing/2014/main" id="{2579460D-9315-4ADB-AD65-FECD994F2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981450"/>
            <a:ext cx="2266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3D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cover-panel-body">
            <a:extLst xmlns:a="http://schemas.openxmlformats.org/drawingml/2006/main">
              <a:ext uri="{FF2B5EF4-FFF2-40B4-BE49-F238E27FC236}">
                <a16:creationId xmlns:a16="http://schemas.microsoft.com/office/drawing/2014/main" id="{72F8C19E-A848-4A33-9201-5D91670D8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267200"/>
            <a:ext cx="23241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222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8C6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B8C6D8"/>
                </a:solidFill>
                <a:latin typeface="Microsoft YaHei"/>
                <a:ea typeface="Microsoft YaHei"/>
                <a:cs typeface="Microsoft YaHei"/>
              </a:rPr>
              <a:t>Every policy, tool, retry, rollback, and terminal decision becomes replayable evidence.</a:t>
            </a:r>
          </a:p>
        </p:txBody>
      </p:sp>
      <p:sp>
        <p:nvSpPr>
          <p:cNvPr id="11" name="cover-footer">
            <a:extLst xmlns:a="http://schemas.openxmlformats.org/drawingml/2006/main">
              <a:ext uri="{FF2B5EF4-FFF2-40B4-BE49-F238E27FC236}">
                <a16:creationId xmlns:a16="http://schemas.microsoft.com/office/drawing/2014/main" id="{4E40905D-FDDD-41E8-A104-96D6057D0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150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C8DA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C8DA4"/>
                </a:solidFill>
                <a:latin typeface="Microsoft YaHei"/>
                <a:ea typeface="Microsoft YaHei"/>
                <a:cs typeface="Microsoft YaHei"/>
              </a:rPr>
              <a:t>Linxiushen  |  v0.4.0  |  2026-08-14</a:t>
            </a:r>
          </a:p>
        </p:txBody>
      </p:sp>
    </p:spTree>
    <p:extLst>
      <p:ext uri="{BB962C8B-B14F-4D97-AF65-F5344CB8AC3E}">
        <p14:creationId xmlns:p14="http://schemas.microsoft.com/office/powerpoint/2010/main" val="74812371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eyebrow-2">
            <a:extLst xmlns:a="http://schemas.openxmlformats.org/drawingml/2006/main">
              <a:ext uri="{FF2B5EF4-FFF2-40B4-BE49-F238E27FC236}">
                <a16:creationId xmlns:a16="http://schemas.microsoft.com/office/drawing/2014/main" id="{8A051E8A-7B84-47BB-861F-E42EA056C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01 / DECISION</a:t>
            </a:r>
          </a:p>
        </p:txBody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45C41B31-A1D6-441E-BD5C-15788E1DE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评审结论先行：把 Agent 从 demo 变成可运营系统</a:t>
            </a:r>
          </a:p>
        </p:txBody>
      </p:sp>
      <p:sp>
        <p:nvSpPr>
          <p:cNvPr id="3" name="rule-2">
            <a:extLst xmlns:a="http://schemas.openxmlformats.org/drawingml/2006/main">
              <a:ext uri="{FF2B5EF4-FFF2-40B4-BE49-F238E27FC236}">
                <a16:creationId xmlns:a16="http://schemas.microsoft.com/office/drawing/2014/main" id="{06D77970-BBF7-43FA-BACA-3045CC79F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2">
            <a:extLst xmlns:a="http://schemas.openxmlformats.org/drawingml/2006/main">
              <a:ext uri="{FF2B5EF4-FFF2-40B4-BE49-F238E27FC236}">
                <a16:creationId xmlns:a16="http://schemas.microsoft.com/office/drawing/2014/main" id="{5379CE6A-B373-49E3-BB48-F31E5C7D2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4191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3333"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5" name="footer-2">
            <a:extLst xmlns:a="http://schemas.openxmlformats.org/drawingml/2006/main">
              <a:ext uri="{FF2B5EF4-FFF2-40B4-BE49-F238E27FC236}">
                <a16:creationId xmlns:a16="http://schemas.microsoft.com/office/drawing/2014/main" id="{607A16D2-E036-4369-8F10-4E8ADBF63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HarnessLab  |  Architecture review  |  2026-08-14</a:t>
            </a:r>
          </a:p>
        </p:txBody>
      </p:sp>
      <p:sp>
        <p:nvSpPr>
          <p:cNvPr id="6" name="exec-lead">
            <a:extLst xmlns:a="http://schemas.openxmlformats.org/drawingml/2006/main">
              <a:ext uri="{FF2B5EF4-FFF2-40B4-BE49-F238E27FC236}">
                <a16:creationId xmlns:a16="http://schemas.microsoft.com/office/drawing/2014/main" id="{EFC1B33B-29E3-4C34-8395-27DB13DFC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781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模型能力决定上限；Harness 契约决定线上下限。</a:t>
            </a:r>
          </a:p>
        </p:txBody>
      </p:sp>
      <p:sp>
        <p:nvSpPr>
          <p:cNvPr id="7" name="exec-b1-mark">
            <a:extLst xmlns:a="http://schemas.openxmlformats.org/drawingml/2006/main">
              <a:ext uri="{FF2B5EF4-FFF2-40B4-BE49-F238E27FC236}">
                <a16:creationId xmlns:a16="http://schemas.microsoft.com/office/drawing/2014/main" id="{3F39F7EB-4C64-49F4-9162-BA29220E5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exec-b1">
            <a:extLst xmlns:a="http://schemas.openxmlformats.org/drawingml/2006/main">
              <a:ext uri="{FF2B5EF4-FFF2-40B4-BE49-F238E27FC236}">
                <a16:creationId xmlns:a16="http://schemas.microsoft.com/office/drawing/2014/main" id="{1AEB9EF4-8B8C-43A2-AD65-D35D0A91A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14600"/>
            <a:ext cx="6819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Run-scoped capability + explicit policy gate：模型不会直接获得工具权限。</a:t>
            </a:r>
          </a:p>
        </p:txBody>
      </p:sp>
      <p:sp>
        <p:nvSpPr>
          <p:cNvPr id="9" name="exec-b2-mark">
            <a:extLst xmlns:a="http://schemas.openxmlformats.org/drawingml/2006/main">
              <a:ext uri="{FF2B5EF4-FFF2-40B4-BE49-F238E27FC236}">
                <a16:creationId xmlns:a16="http://schemas.microsoft.com/office/drawing/2014/main" id="{19959D85-2888-4BA3-8FB5-507C731BC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24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49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exec-b2">
            <a:extLst xmlns:a="http://schemas.openxmlformats.org/drawingml/2006/main">
              <a:ext uri="{FF2B5EF4-FFF2-40B4-BE49-F238E27FC236}">
                <a16:creationId xmlns:a16="http://schemas.microsoft.com/office/drawing/2014/main" id="{9A98AB26-1D13-4AF0-B9BE-9EECC604D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67050"/>
            <a:ext cx="6819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Token / tool / cost / wall-time budgets：上下文和资源有硬边界。</a:t>
            </a:r>
          </a:p>
        </p:txBody>
      </p:sp>
      <p:sp>
        <p:nvSpPr>
          <p:cNvPr id="11" name="exec-b3-mark">
            <a:extLst xmlns:a="http://schemas.openxmlformats.org/drawingml/2006/main">
              <a:ext uri="{FF2B5EF4-FFF2-40B4-BE49-F238E27FC236}">
                <a16:creationId xmlns:a16="http://schemas.microsoft.com/office/drawing/2014/main" id="{067BD547-8110-4652-9EC6-2F82B67D5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766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79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exec-b3">
            <a:extLst xmlns:a="http://schemas.openxmlformats.org/drawingml/2006/main">
              <a:ext uri="{FF2B5EF4-FFF2-40B4-BE49-F238E27FC236}">
                <a16:creationId xmlns:a16="http://schemas.microsoft.com/office/drawing/2014/main" id="{C03E35E5-0A9D-4E2D-AF04-ACA7C25B9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19500"/>
            <a:ext cx="6819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Trace Contract + signed artifact + replay：故障可以重现，变更可以进 CI。</a:t>
            </a:r>
          </a:p>
        </p:txBody>
      </p:sp>
      <p:sp>
        <p:nvSpPr>
          <p:cNvPr id="13" name="exec-rule">
            <a:extLst xmlns:a="http://schemas.openxmlformats.org/drawingml/2006/main">
              <a:ext uri="{FF2B5EF4-FFF2-40B4-BE49-F238E27FC236}">
                <a16:creationId xmlns:a16="http://schemas.microsoft.com/office/drawing/2014/main" id="{2E0C3261-E427-43EA-8D26-D96273765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19600"/>
            <a:ext cx="704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exec-claim">
            <a:extLst xmlns:a="http://schemas.openxmlformats.org/drawingml/2006/main">
              <a:ext uri="{FF2B5EF4-FFF2-40B4-BE49-F238E27FC236}">
                <a16:creationId xmlns:a16="http://schemas.microsoft.com/office/drawing/2014/main" id="{818B483E-0C0E-4209-9F02-BC6B08360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48200"/>
            <a:ext cx="723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当前状态：生产取向的离线 reference implementation，边界可审计，供应商 wire protocol 保持隔离。</a:t>
            </a:r>
          </a:p>
        </p:txBody>
      </p:sp>
      <p:sp>
        <p:nvSpPr>
          <p:cNvPr id="15" name="exec-m1-value">
            <a:extLst xmlns:a="http://schemas.openxmlformats.org/drawingml/2006/main">
              <a:ext uri="{FF2B5EF4-FFF2-40B4-BE49-F238E27FC236}">
                <a16:creationId xmlns:a16="http://schemas.microsoft.com/office/drawing/2014/main" id="{5A41F442-30E8-4265-A237-579C8DFE3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905000"/>
            <a:ext cx="171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53</a:t>
            </a:r>
          </a:p>
        </p:txBody>
      </p:sp>
      <p:sp>
        <p:nvSpPr>
          <p:cNvPr id="16" name="exec-m1-label">
            <a:extLst xmlns:a="http://schemas.openxmlformats.org/drawingml/2006/main">
              <a:ext uri="{FF2B5EF4-FFF2-40B4-BE49-F238E27FC236}">
                <a16:creationId xmlns:a16="http://schemas.microsoft.com/office/drawing/2014/main" id="{547F9732-2EE2-4FE3-8D17-3C0062CCA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6098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tests passed</a:t>
            </a:r>
          </a:p>
        </p:txBody>
      </p:sp>
      <p:sp>
        <p:nvSpPr>
          <p:cNvPr id="17" name="exec-m2-value">
            <a:extLst xmlns:a="http://schemas.openxmlformats.org/drawingml/2006/main">
              <a:ext uri="{FF2B5EF4-FFF2-40B4-BE49-F238E27FC236}">
                <a16:creationId xmlns:a16="http://schemas.microsoft.com/office/drawing/2014/main" id="{451958BE-B0F7-4C6C-8B3B-8AA4FA9FE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238500"/>
            <a:ext cx="228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1379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00" b="1">
                <a:solidFill>
                  <a:srgbClr val="13795B"/>
                </a:solidFill>
                <a:latin typeface="Microsoft YaHei"/>
                <a:ea typeface="Microsoft YaHei"/>
                <a:cs typeface="Microsoft YaHei"/>
              </a:rPr>
              <a:t>9/9</a:t>
            </a:r>
          </a:p>
        </p:txBody>
      </p:sp>
      <p:sp>
        <p:nvSpPr>
          <p:cNvPr id="18" name="exec-m2-label">
            <a:extLst xmlns:a="http://schemas.openxmlformats.org/drawingml/2006/main">
              <a:ext uri="{FF2B5EF4-FFF2-40B4-BE49-F238E27FC236}">
                <a16:creationId xmlns:a16="http://schemas.microsoft.com/office/drawing/2014/main" id="{D8F02256-49B0-40C8-AD02-BFEBBC09D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9433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Agentic release gates</a:t>
            </a:r>
          </a:p>
        </p:txBody>
      </p:sp>
      <p:sp>
        <p:nvSpPr>
          <p:cNvPr id="19" name="exec-m3-value">
            <a:extLst xmlns:a="http://schemas.openxmlformats.org/drawingml/2006/main">
              <a:ext uri="{FF2B5EF4-FFF2-40B4-BE49-F238E27FC236}">
                <a16:creationId xmlns:a16="http://schemas.microsoft.com/office/drawing/2014/main" id="{F5DD5B1C-D379-44F0-82B7-507693550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572000"/>
            <a:ext cx="228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0E74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00" b="1">
                <a:solidFill>
                  <a:srgbClr val="0E7490"/>
                </a:solidFill>
                <a:latin typeface="Microsoft YaHei"/>
                <a:ea typeface="Microsoft YaHei"/>
                <a:cs typeface="Microsoft YaHei"/>
              </a:rPr>
              <a:t>10/10</a:t>
            </a:r>
          </a:p>
        </p:txBody>
      </p:sp>
      <p:sp>
        <p:nvSpPr>
          <p:cNvPr id="20" name="exec-m3-label">
            <a:extLst xmlns:a="http://schemas.openxmlformats.org/drawingml/2006/main">
              <a:ext uri="{FF2B5EF4-FFF2-40B4-BE49-F238E27FC236}">
                <a16:creationId xmlns:a16="http://schemas.microsoft.com/office/drawing/2014/main" id="{EA45B830-32B3-4BB5-AFEF-E751B05C9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2768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trace conformance</a:t>
            </a:r>
          </a:p>
        </p:txBody>
      </p:sp>
    </p:spTree>
    <p:extLst>
      <p:ext uri="{BB962C8B-B14F-4D97-AF65-F5344CB8AC3E}">
        <p14:creationId xmlns:p14="http://schemas.microsoft.com/office/powerpoint/2010/main" val="179292835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eyebrow-3">
            <a:extLst xmlns:a="http://schemas.openxmlformats.org/drawingml/2006/main">
              <a:ext uri="{FF2B5EF4-FFF2-40B4-BE49-F238E27FC236}">
                <a16:creationId xmlns:a16="http://schemas.microsoft.com/office/drawing/2014/main" id="{36201BE2-B4CA-4B67-86FB-A407C8053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02 / PROBLEM</a:t>
            </a:r>
          </a:p>
        </p:txBody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A0FB4F1E-9EB6-4B20-A971-0B819BF1A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生产故障通常不是“模型不会答”，而是边界没有被定义</a:t>
            </a:r>
          </a:p>
        </p:txBody>
      </p:sp>
      <p:sp>
        <p:nvSpPr>
          <p:cNvPr id="3" name="rule-3">
            <a:extLst xmlns:a="http://schemas.openxmlformats.org/drawingml/2006/main">
              <a:ext uri="{FF2B5EF4-FFF2-40B4-BE49-F238E27FC236}">
                <a16:creationId xmlns:a16="http://schemas.microsoft.com/office/drawing/2014/main" id="{F33AC916-6F85-4526-846E-B07F7FDC1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3">
            <a:extLst xmlns:a="http://schemas.openxmlformats.org/drawingml/2006/main">
              <a:ext uri="{FF2B5EF4-FFF2-40B4-BE49-F238E27FC236}">
                <a16:creationId xmlns:a16="http://schemas.microsoft.com/office/drawing/2014/main" id="{A538C6D9-7DC4-4D07-ABD4-730A8AA41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4191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3333"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5" name="footer-3">
            <a:extLst xmlns:a="http://schemas.openxmlformats.org/drawingml/2006/main">
              <a:ext uri="{FF2B5EF4-FFF2-40B4-BE49-F238E27FC236}">
                <a16:creationId xmlns:a16="http://schemas.microsoft.com/office/drawing/2014/main" id="{446A4BBC-FC54-4785-869E-125A08103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HarnessLab  |  Architecture review  |  2026-08-14</a:t>
            </a:r>
          </a:p>
        </p:txBody>
      </p:sp>
      <p:sp>
        <p:nvSpPr>
          <p:cNvPr id="6" name="problem-left">
            <a:extLst xmlns:a="http://schemas.openxmlformats.org/drawingml/2006/main">
              <a:ext uri="{FF2B5EF4-FFF2-40B4-BE49-F238E27FC236}">
                <a16:creationId xmlns:a16="http://schemas.microsoft.com/office/drawing/2014/main" id="{D0CFCA7A-1F5D-4F08-8913-4C0138EA1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542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一个真实 Agent run 同时面对五类不确定性</a:t>
            </a:r>
          </a:p>
        </p:txBody>
      </p:sp>
      <p:sp>
        <p:nvSpPr>
          <p:cNvPr id="7" name="problem-line-0">
            <a:extLst xmlns:a="http://schemas.openxmlformats.org/drawingml/2006/main">
              <a:ext uri="{FF2B5EF4-FFF2-40B4-BE49-F238E27FC236}">
                <a16:creationId xmlns:a16="http://schemas.microsoft.com/office/drawing/2014/main" id="{F9D38510-67DE-4C2A-9941-F80C23B6F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38400"/>
            <a:ext cx="38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problem-label-0">
            <a:extLst xmlns:a="http://schemas.openxmlformats.org/drawingml/2006/main">
              <a:ext uri="{FF2B5EF4-FFF2-40B4-BE49-F238E27FC236}">
                <a16:creationId xmlns:a16="http://schemas.microsoft.com/office/drawing/2014/main" id="{88844CFD-29B4-4683-9E35-BCDD8E09A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4315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B42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B42318"/>
                </a:solidFill>
                <a:latin typeface="Microsoft YaHei"/>
                <a:ea typeface="Microsoft YaHei"/>
                <a:cs typeface="Microsoft YaHei"/>
              </a:rPr>
              <a:t>Context</a:t>
            </a:r>
          </a:p>
        </p:txBody>
      </p:sp>
      <p:sp>
        <p:nvSpPr>
          <p:cNvPr id="9" name="problem-desc-0">
            <a:extLst xmlns:a="http://schemas.openxmlformats.org/drawingml/2006/main">
              <a:ext uri="{FF2B5EF4-FFF2-40B4-BE49-F238E27FC236}">
                <a16:creationId xmlns:a16="http://schemas.microsoft.com/office/drawing/2014/main" id="{F9CFDD1C-D9AE-4916-8269-83D6CEC56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343150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大 session 恢复、compact、token overflow</a:t>
            </a:r>
          </a:p>
        </p:txBody>
      </p:sp>
      <p:sp>
        <p:nvSpPr>
          <p:cNvPr id="10" name="problem-line-1">
            <a:extLst xmlns:a="http://schemas.openxmlformats.org/drawingml/2006/main">
              <a:ext uri="{FF2B5EF4-FFF2-40B4-BE49-F238E27FC236}">
                <a16:creationId xmlns:a16="http://schemas.microsoft.com/office/drawing/2014/main" id="{EEF2F209-CF38-4A7B-B85C-9A0B16EAF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86100"/>
            <a:ext cx="38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problem-label-1">
            <a:extLst xmlns:a="http://schemas.openxmlformats.org/drawingml/2006/main">
              <a:ext uri="{FF2B5EF4-FFF2-40B4-BE49-F238E27FC236}">
                <a16:creationId xmlns:a16="http://schemas.microsoft.com/office/drawing/2014/main" id="{4899FD18-F959-44A7-AD0C-DFBDB4B18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9085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Tools</a:t>
            </a:r>
          </a:p>
        </p:txBody>
      </p:sp>
      <p:sp>
        <p:nvSpPr>
          <p:cNvPr id="12" name="problem-desc-1">
            <a:extLst xmlns:a="http://schemas.openxmlformats.org/drawingml/2006/main">
              <a:ext uri="{FF2B5EF4-FFF2-40B4-BE49-F238E27FC236}">
                <a16:creationId xmlns:a16="http://schemas.microsoft.com/office/drawing/2014/main" id="{66104E16-9816-4C30-A884-2C35E86F4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990850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MCP schema 噪声、stdio EPIPE、启动成本</a:t>
            </a:r>
          </a:p>
        </p:txBody>
      </p:sp>
      <p:sp>
        <p:nvSpPr>
          <p:cNvPr id="13" name="problem-line-2">
            <a:extLst xmlns:a="http://schemas.openxmlformats.org/drawingml/2006/main">
              <a:ext uri="{FF2B5EF4-FFF2-40B4-BE49-F238E27FC236}">
                <a16:creationId xmlns:a16="http://schemas.microsoft.com/office/drawing/2014/main" id="{B21FE3BA-5E30-4439-92C9-64FAB3CFE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33800"/>
            <a:ext cx="38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49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problem-label-2">
            <a:extLst xmlns:a="http://schemas.openxmlformats.org/drawingml/2006/main">
              <a:ext uri="{FF2B5EF4-FFF2-40B4-BE49-F238E27FC236}">
                <a16:creationId xmlns:a16="http://schemas.microsoft.com/office/drawing/2014/main" id="{F5CDD564-7F93-4C30-9443-05014F938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3855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E74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E7490"/>
                </a:solidFill>
                <a:latin typeface="Microsoft YaHei"/>
                <a:ea typeface="Microsoft YaHei"/>
                <a:cs typeface="Microsoft YaHei"/>
              </a:rPr>
              <a:t>State</a:t>
            </a:r>
          </a:p>
        </p:txBody>
      </p:sp>
      <p:sp>
        <p:nvSpPr>
          <p:cNvPr id="15" name="problem-desc-2">
            <a:extLst xmlns:a="http://schemas.openxmlformats.org/drawingml/2006/main">
              <a:ext uri="{FF2B5EF4-FFF2-40B4-BE49-F238E27FC236}">
                <a16:creationId xmlns:a16="http://schemas.microsoft.com/office/drawing/2014/main" id="{1C29D720-4938-409F-B250-8866459BD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638550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跨 session 协同、并发冲突、重复提交</a:t>
            </a:r>
          </a:p>
        </p:txBody>
      </p:sp>
      <p:sp>
        <p:nvSpPr>
          <p:cNvPr id="16" name="problem-line-3">
            <a:extLst xmlns:a="http://schemas.openxmlformats.org/drawingml/2006/main">
              <a:ext uri="{FF2B5EF4-FFF2-40B4-BE49-F238E27FC236}">
                <a16:creationId xmlns:a16="http://schemas.microsoft.com/office/drawing/2014/main" id="{4AECD8CE-46B8-46E3-97E4-01E058B67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38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problem-label-3">
            <a:extLst xmlns:a="http://schemas.openxmlformats.org/drawingml/2006/main">
              <a:ext uri="{FF2B5EF4-FFF2-40B4-BE49-F238E27FC236}">
                <a16:creationId xmlns:a16="http://schemas.microsoft.com/office/drawing/2014/main" id="{2F59E7C7-903E-450D-914C-04C720946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28625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B42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B42318"/>
                </a:solidFill>
                <a:latin typeface="Microsoft YaHei"/>
                <a:ea typeface="Microsoft YaHei"/>
                <a:cs typeface="Microsoft YaHei"/>
              </a:rPr>
              <a:t>Safety</a:t>
            </a:r>
          </a:p>
        </p:txBody>
      </p:sp>
      <p:sp>
        <p:nvSpPr>
          <p:cNvPr id="18" name="problem-desc-3">
            <a:extLst xmlns:a="http://schemas.openxmlformats.org/drawingml/2006/main">
              <a:ext uri="{FF2B5EF4-FFF2-40B4-BE49-F238E27FC236}">
                <a16:creationId xmlns:a16="http://schemas.microsoft.com/office/drawing/2014/main" id="{A5F30765-F396-40B2-8FD1-729B28FE4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286250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prompt injection、越权、副作用</a:t>
            </a:r>
          </a:p>
        </p:txBody>
      </p:sp>
      <p:sp>
        <p:nvSpPr>
          <p:cNvPr id="19" name="problem-line-4">
            <a:extLst xmlns:a="http://schemas.openxmlformats.org/drawingml/2006/main">
              <a:ext uri="{FF2B5EF4-FFF2-40B4-BE49-F238E27FC236}">
                <a16:creationId xmlns:a16="http://schemas.microsoft.com/office/drawing/2014/main" id="{B52C3303-A944-4E40-8527-DF657458D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29200"/>
            <a:ext cx="38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problem-label-4">
            <a:extLst xmlns:a="http://schemas.openxmlformats.org/drawingml/2006/main">
              <a:ext uri="{FF2B5EF4-FFF2-40B4-BE49-F238E27FC236}">
                <a16:creationId xmlns:a16="http://schemas.microsoft.com/office/drawing/2014/main" id="{FD2DD18F-E037-431C-B857-826C46D2B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93395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Evidence</a:t>
            </a:r>
          </a:p>
        </p:txBody>
      </p:sp>
      <p:sp>
        <p:nvSpPr>
          <p:cNvPr id="21" name="problem-desc-4">
            <a:extLst xmlns:a="http://schemas.openxmlformats.org/drawingml/2006/main">
              <a:ext uri="{FF2B5EF4-FFF2-40B4-BE49-F238E27FC236}">
                <a16:creationId xmlns:a16="http://schemas.microsoft.com/office/drawing/2014/main" id="{8482279F-1DBF-4E51-A64C-A4BAAB375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933950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失败无法重放，CI 只能看最终文本</a:t>
            </a:r>
          </a:p>
        </p:txBody>
      </p:sp>
      <p:sp>
        <p:nvSpPr>
          <p:cNvPr id="22" name="problem-right">
            <a:extLst xmlns:a="http://schemas.openxmlformats.org/drawingml/2006/main">
              <a:ext uri="{FF2B5EF4-FFF2-40B4-BE49-F238E27FC236}">
                <a16:creationId xmlns:a16="http://schemas.microsoft.com/office/drawing/2014/main" id="{9D0F4DA2-0311-421F-9813-B2BC09633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809750"/>
            <a:ext cx="4686300" cy="3543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F16"/>
          </a:solidFill>
          <a:ln xmlns:a="http://schemas.openxmlformats.org/drawingml/2006/main" w="9525">
            <a:solidFill>
              <a:srgbClr val="0B0F16"/>
            </a:solidFill>
            <a:prstDash val="solid"/>
          </a:ln>
        </p:spPr>
      </p:sp>
      <p:sp>
        <p:nvSpPr>
          <p:cNvPr id="23" name="problem-right-kicker">
            <a:extLst xmlns:a="http://schemas.openxmlformats.org/drawingml/2006/main">
              <a:ext uri="{FF2B5EF4-FFF2-40B4-BE49-F238E27FC236}">
                <a16:creationId xmlns:a16="http://schemas.microsoft.com/office/drawing/2014/main" id="{9E83EAA5-B37C-4A67-810D-C4116986B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1526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EB5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8EB5FF"/>
                </a:solidFill>
                <a:latin typeface="Microsoft YaHei"/>
                <a:ea typeface="Microsoft YaHei"/>
                <a:cs typeface="Microsoft YaHei"/>
              </a:rPr>
              <a:t>THE FAILURE OF PROMPT-ONLY EVAL</a:t>
            </a:r>
          </a:p>
        </p:txBody>
      </p:sp>
      <p:sp>
        <p:nvSpPr>
          <p:cNvPr id="24" name="problem-right-title">
            <a:extLst xmlns:a="http://schemas.openxmlformats.org/drawingml/2006/main">
              <a:ext uri="{FF2B5EF4-FFF2-40B4-BE49-F238E27FC236}">
                <a16:creationId xmlns:a16="http://schemas.microsoft.com/office/drawing/2014/main" id="{DBEB8E53-DC56-429A-9A47-E5EAC1DAF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609850"/>
            <a:ext cx="3714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最终答案正常</a:t>
            </a:r>
          </a:p>
          <a:p xmlns:a="http://schemas.openxmlformats.org/drawingml/2006/main">
            <a:pPr algn="l"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不代表执行安全</a:t>
            </a:r>
          </a:p>
        </p:txBody>
      </p:sp>
      <p:sp>
        <p:nvSpPr>
          <p:cNvPr id="25" name="problem-right-body">
            <a:extLst xmlns:a="http://schemas.openxmlformats.org/drawingml/2006/main">
              <a:ext uri="{FF2B5EF4-FFF2-40B4-BE49-F238E27FC236}">
                <a16:creationId xmlns:a16="http://schemas.microsoft.com/office/drawing/2014/main" id="{88F61E54-BB97-4F2A-9BE1-706ACD020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095750"/>
            <a:ext cx="3714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8C6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B8C6D8"/>
                </a:solidFill>
                <a:latin typeface="Microsoft YaHei"/>
                <a:ea typeface="Microsoft YaHei"/>
                <a:cs typeface="Microsoft YaHei"/>
              </a:rPr>
              <a:t>如果没有有序事件、权限决定、预算拒绝和补偿记录，评审无法回答：谁做了什么、为什么做、失败后发生了什么。</a:t>
            </a:r>
          </a:p>
        </p:txBody>
      </p:sp>
    </p:spTree>
    <p:extLst>
      <p:ext uri="{BB962C8B-B14F-4D97-AF65-F5344CB8AC3E}">
        <p14:creationId xmlns:p14="http://schemas.microsoft.com/office/powerpoint/2010/main" val="131382734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eyebrow-4">
            <a:extLst xmlns:a="http://schemas.openxmlformats.org/drawingml/2006/main">
              <a:ext uri="{FF2B5EF4-FFF2-40B4-BE49-F238E27FC236}">
                <a16:creationId xmlns:a16="http://schemas.microsoft.com/office/drawing/2014/main" id="{DCEB73BE-0093-480B-8A7B-589B8617A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03 / ARCHITECTURE</a:t>
            </a:r>
          </a:p>
        </p:txBody>
      </p:sp>
      <p:sp>
        <p:nvSpPr>
          <p:cNvPr id="2" name="title-4">
            <a:extLst xmlns:a="http://schemas.openxmlformats.org/drawingml/2006/main">
              <a:ext uri="{FF2B5EF4-FFF2-40B4-BE49-F238E27FC236}">
                <a16:creationId xmlns:a16="http://schemas.microsoft.com/office/drawing/2014/main" id="{FC5764D0-E063-426D-97A4-6341B10CA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Pi 的 runtime shape，落在可替换的控制平面边界内</a:t>
            </a:r>
          </a:p>
        </p:txBody>
      </p:sp>
      <p:sp>
        <p:nvSpPr>
          <p:cNvPr id="3" name="rule-4">
            <a:extLst xmlns:a="http://schemas.openxmlformats.org/drawingml/2006/main">
              <a:ext uri="{FF2B5EF4-FFF2-40B4-BE49-F238E27FC236}">
                <a16:creationId xmlns:a16="http://schemas.microsoft.com/office/drawing/2014/main" id="{4DFCF89E-E12B-4504-AA5B-568EEB8C4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4">
            <a:extLst xmlns:a="http://schemas.openxmlformats.org/drawingml/2006/main">
              <a:ext uri="{FF2B5EF4-FFF2-40B4-BE49-F238E27FC236}">
                <a16:creationId xmlns:a16="http://schemas.microsoft.com/office/drawing/2014/main" id="{CA7B0FAC-89CB-4452-BA3E-D606255A6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4191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3333"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5" name="footer-4">
            <a:extLst xmlns:a="http://schemas.openxmlformats.org/drawingml/2006/main">
              <a:ext uri="{FF2B5EF4-FFF2-40B4-BE49-F238E27FC236}">
                <a16:creationId xmlns:a16="http://schemas.microsoft.com/office/drawing/2014/main" id="{464535BF-4BC1-49D3-964C-C56160DFB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HarnessLab  |  Architecture review  |  2026-08-14</a:t>
            </a:r>
          </a:p>
        </p:txBody>
      </p:sp>
      <p:sp>
        <p:nvSpPr>
          <p:cNvPr id="6" name="arch-layer-0">
            <a:extLst xmlns:a="http://schemas.openxmlformats.org/drawingml/2006/main">
              <a:ext uri="{FF2B5EF4-FFF2-40B4-BE49-F238E27FC236}">
                <a16:creationId xmlns:a16="http://schemas.microsoft.com/office/drawing/2014/main" id="{4746FA4A-E5C7-48DB-8273-503E2FB65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657350"/>
            <a:ext cx="6953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7" name="arch-accent-0">
            <a:extLst xmlns:a="http://schemas.openxmlformats.org/drawingml/2006/main">
              <a:ext uri="{FF2B5EF4-FFF2-40B4-BE49-F238E27FC236}">
                <a16:creationId xmlns:a16="http://schemas.microsoft.com/office/drawing/2014/main" id="{C1705308-CCAD-479C-8588-2E73AD37F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657350"/>
            <a:ext cx="7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8A2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arch-label-0">
            <a:extLst xmlns:a="http://schemas.openxmlformats.org/drawingml/2006/main">
              <a:ext uri="{FF2B5EF4-FFF2-40B4-BE49-F238E27FC236}">
                <a16:creationId xmlns:a16="http://schemas.microsoft.com/office/drawing/2014/main" id="{E4038323-E8CA-4060-AF50-7428615C8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75260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Ingress / API / CLI / Workbench</a:t>
            </a:r>
          </a:p>
        </p:txBody>
      </p:sp>
      <p:sp>
        <p:nvSpPr>
          <p:cNvPr id="9" name="arch-desc-0">
            <a:extLst xmlns:a="http://schemas.openxmlformats.org/drawingml/2006/main">
              <a:ext uri="{FF2B5EF4-FFF2-40B4-BE49-F238E27FC236}">
                <a16:creationId xmlns:a16="http://schemas.microsoft.com/office/drawing/2014/main" id="{BAE742A4-517C-45B0-B1C5-691DFC765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75260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鉴权、幂等、SSE、操作面</a:t>
            </a:r>
          </a:p>
        </p:txBody>
      </p:sp>
      <p:sp>
        <p:nvSpPr>
          <p:cNvPr id="10" name="arch-layer-1">
            <a:extLst xmlns:a="http://schemas.openxmlformats.org/drawingml/2006/main">
              <a:ext uri="{FF2B5EF4-FFF2-40B4-BE49-F238E27FC236}">
                <a16:creationId xmlns:a16="http://schemas.microsoft.com/office/drawing/2014/main" id="{7B35AEAE-636F-4CFF-9E1D-83A28FAF2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66950"/>
            <a:ext cx="6953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1" name="arch-accent-1">
            <a:extLst xmlns:a="http://schemas.openxmlformats.org/drawingml/2006/main">
              <a:ext uri="{FF2B5EF4-FFF2-40B4-BE49-F238E27FC236}">
                <a16:creationId xmlns:a16="http://schemas.microsoft.com/office/drawing/2014/main" id="{8233A528-23D0-423E-917C-5AA4DC857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66950"/>
            <a:ext cx="7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arch-label-1">
            <a:extLst xmlns:a="http://schemas.openxmlformats.org/drawingml/2006/main">
              <a:ext uri="{FF2B5EF4-FFF2-40B4-BE49-F238E27FC236}">
                <a16:creationId xmlns:a16="http://schemas.microsoft.com/office/drawing/2014/main" id="{69BB98AD-209B-4822-A8A2-8349E5E50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36220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AgenticService</a:t>
            </a:r>
          </a:p>
        </p:txBody>
      </p:sp>
      <p:sp>
        <p:nvSpPr>
          <p:cNvPr id="13" name="arch-desc-1">
            <a:extLst xmlns:a="http://schemas.openxmlformats.org/drawingml/2006/main">
              <a:ext uri="{FF2B5EF4-FFF2-40B4-BE49-F238E27FC236}">
                <a16:creationId xmlns:a16="http://schemas.microsoft.com/office/drawing/2014/main" id="{8ABA05C5-FB45-4C3F-A204-3EC078E01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36220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持久化提交、取消、恢复、扩展生命周期</a:t>
            </a:r>
          </a:p>
        </p:txBody>
      </p:sp>
      <p:sp>
        <p:nvSpPr>
          <p:cNvPr id="14" name="arch-layer-2">
            <a:extLst xmlns:a="http://schemas.openxmlformats.org/drawingml/2006/main">
              <a:ext uri="{FF2B5EF4-FFF2-40B4-BE49-F238E27FC236}">
                <a16:creationId xmlns:a16="http://schemas.microsoft.com/office/drawing/2014/main" id="{4584FE02-9BF1-46FB-8E39-6204CD77C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76550"/>
            <a:ext cx="6953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5" name="arch-accent-2">
            <a:extLst xmlns:a="http://schemas.openxmlformats.org/drawingml/2006/main">
              <a:ext uri="{FF2B5EF4-FFF2-40B4-BE49-F238E27FC236}">
                <a16:creationId xmlns:a16="http://schemas.microsoft.com/office/drawing/2014/main" id="{A0B35086-A46C-4FA5-9159-C29EA3B0D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76550"/>
            <a:ext cx="7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49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arch-label-2">
            <a:extLst xmlns:a="http://schemas.openxmlformats.org/drawingml/2006/main">
              <a:ext uri="{FF2B5EF4-FFF2-40B4-BE49-F238E27FC236}">
                <a16:creationId xmlns:a16="http://schemas.microsoft.com/office/drawing/2014/main" id="{0B30CD65-BAD8-40B5-8443-1A6ED9C9A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97180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Control Plane</a:t>
            </a:r>
          </a:p>
        </p:txBody>
      </p:sp>
      <p:sp>
        <p:nvSpPr>
          <p:cNvPr id="17" name="arch-desc-2">
            <a:extLst xmlns:a="http://schemas.openxmlformats.org/drawingml/2006/main">
              <a:ext uri="{FF2B5EF4-FFF2-40B4-BE49-F238E27FC236}">
                <a16:creationId xmlns:a16="http://schemas.microsoft.com/office/drawing/2014/main" id="{B01FE5BF-2B0C-4A27-90B4-3598B0C38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97180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7363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Router · Planner · DAG Scheduler · Retry / Replan / Rollback</a:t>
            </a:r>
          </a:p>
        </p:txBody>
      </p:sp>
      <p:sp>
        <p:nvSpPr>
          <p:cNvPr id="18" name="arch-layer-3">
            <a:extLst xmlns:a="http://schemas.openxmlformats.org/drawingml/2006/main">
              <a:ext uri="{FF2B5EF4-FFF2-40B4-BE49-F238E27FC236}">
                <a16:creationId xmlns:a16="http://schemas.microsoft.com/office/drawing/2014/main" id="{B785A694-45E4-4829-856E-6EA01285B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86150"/>
            <a:ext cx="6953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9" name="arch-accent-3">
            <a:extLst xmlns:a="http://schemas.openxmlformats.org/drawingml/2006/main">
              <a:ext uri="{FF2B5EF4-FFF2-40B4-BE49-F238E27FC236}">
                <a16:creationId xmlns:a16="http://schemas.microsoft.com/office/drawing/2014/main" id="{9A7DE72B-F61E-43A0-9EBD-13625A7D5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86150"/>
            <a:ext cx="7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79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arch-label-3">
            <a:extLst xmlns:a="http://schemas.openxmlformats.org/drawingml/2006/main">
              <a:ext uri="{FF2B5EF4-FFF2-40B4-BE49-F238E27FC236}">
                <a16:creationId xmlns:a16="http://schemas.microsoft.com/office/drawing/2014/main" id="{7F6EBB1A-6713-4DD0-9E5E-AF558FB61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58140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Policy + Budget + Context</a:t>
            </a:r>
          </a:p>
        </p:txBody>
      </p:sp>
      <p:sp>
        <p:nvSpPr>
          <p:cNvPr id="21" name="arch-desc-3">
            <a:extLst xmlns:a="http://schemas.openxmlformats.org/drawingml/2006/main">
              <a:ext uri="{FF2B5EF4-FFF2-40B4-BE49-F238E27FC236}">
                <a16:creationId xmlns:a16="http://schemas.microsoft.com/office/drawing/2014/main" id="{5D744B8D-531C-4854-93DB-51B31219E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58140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2743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capability、taint、token window、cost、wall time</a:t>
            </a:r>
          </a:p>
        </p:txBody>
      </p:sp>
      <p:sp>
        <p:nvSpPr>
          <p:cNvPr id="22" name="arch-layer-4">
            <a:extLst xmlns:a="http://schemas.openxmlformats.org/drawingml/2006/main">
              <a:ext uri="{FF2B5EF4-FFF2-40B4-BE49-F238E27FC236}">
                <a16:creationId xmlns:a16="http://schemas.microsoft.com/office/drawing/2014/main" id="{58DD333E-D9EE-4DDF-8472-87FFCFE00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95750"/>
            <a:ext cx="6953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23" name="arch-accent-4">
            <a:extLst xmlns:a="http://schemas.openxmlformats.org/drawingml/2006/main">
              <a:ext uri="{FF2B5EF4-FFF2-40B4-BE49-F238E27FC236}">
                <a16:creationId xmlns:a16="http://schemas.microsoft.com/office/drawing/2014/main" id="{26224CCC-F74C-484C-A12A-7070364EE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95750"/>
            <a:ext cx="7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arch-label-4">
            <a:extLst xmlns:a="http://schemas.openxmlformats.org/drawingml/2006/main">
              <a:ext uri="{FF2B5EF4-FFF2-40B4-BE49-F238E27FC236}">
                <a16:creationId xmlns:a16="http://schemas.microsoft.com/office/drawing/2014/main" id="{53B44C50-4DA2-4937-BCCD-74B13C362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19100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Tool Gateway + MCP</a:t>
            </a:r>
          </a:p>
        </p:txBody>
      </p:sp>
      <p:sp>
        <p:nvSpPr>
          <p:cNvPr id="25" name="arch-desc-4">
            <a:extLst xmlns:a="http://schemas.openxmlformats.org/drawingml/2006/main">
              <a:ext uri="{FF2B5EF4-FFF2-40B4-BE49-F238E27FC236}">
                <a16:creationId xmlns:a16="http://schemas.microsoft.com/office/drawing/2014/main" id="{2CBA411B-6391-46E5-ACB6-A68E3CD48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19100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1503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schema normalization、approval、idempotency、compensation</a:t>
            </a:r>
          </a:p>
        </p:txBody>
      </p:sp>
      <p:sp>
        <p:nvSpPr>
          <p:cNvPr id="26" name="arch-layer-5">
            <a:extLst xmlns:a="http://schemas.openxmlformats.org/drawingml/2006/main">
              <a:ext uri="{FF2B5EF4-FFF2-40B4-BE49-F238E27FC236}">
                <a16:creationId xmlns:a16="http://schemas.microsoft.com/office/drawing/2014/main" id="{185C73AF-C275-447C-9B96-EA38FECAB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705350"/>
            <a:ext cx="6953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27" name="arch-accent-5">
            <a:extLst xmlns:a="http://schemas.openxmlformats.org/drawingml/2006/main">
              <a:ext uri="{FF2B5EF4-FFF2-40B4-BE49-F238E27FC236}">
                <a16:creationId xmlns:a16="http://schemas.microsoft.com/office/drawing/2014/main" id="{999580EE-E0E8-4BE8-8015-C23CA55D7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705350"/>
            <a:ext cx="7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arch-label-5">
            <a:extLst xmlns:a="http://schemas.openxmlformats.org/drawingml/2006/main">
              <a:ext uri="{FF2B5EF4-FFF2-40B4-BE49-F238E27FC236}">
                <a16:creationId xmlns:a16="http://schemas.microsoft.com/office/drawing/2014/main" id="{CDE2CE6C-621C-428E-BBF9-EB249CB35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80060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Adapters</a:t>
            </a:r>
          </a:p>
        </p:txBody>
      </p:sp>
      <p:sp>
        <p:nvSpPr>
          <p:cNvPr id="29" name="arch-desc-5">
            <a:extLst xmlns:a="http://schemas.openxmlformats.org/drawingml/2006/main">
              <a:ext uri="{FF2B5EF4-FFF2-40B4-BE49-F238E27FC236}">
                <a16:creationId xmlns:a16="http://schemas.microsoft.com/office/drawing/2014/main" id="{8348214A-6483-4772-B5CE-760EBB07B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80060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2943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DeepSeek public API · OpenAI-compatible · deterministic demo</a:t>
            </a:r>
          </a:p>
        </p:txBody>
      </p:sp>
      <p:sp>
        <p:nvSpPr>
          <p:cNvPr id="30" name="arch-contract-label">
            <a:extLst xmlns:a="http://schemas.openxmlformats.org/drawingml/2006/main">
              <a:ext uri="{FF2B5EF4-FFF2-40B4-BE49-F238E27FC236}">
                <a16:creationId xmlns:a16="http://schemas.microsoft.com/office/drawing/2014/main" id="{AAB2588E-610C-497D-8C2E-FD8578683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84785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7846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STABLE CONTRACTS CROSS THE LAYERS</a:t>
            </a:r>
          </a:p>
        </p:txBody>
      </p:sp>
      <p:sp>
        <p:nvSpPr>
          <p:cNvPr id="31" name="arch-contract-title">
            <a:extLst xmlns:a="http://schemas.openxmlformats.org/drawingml/2006/main">
              <a:ext uri="{FF2B5EF4-FFF2-40B4-BE49-F238E27FC236}">
                <a16:creationId xmlns:a16="http://schemas.microsoft.com/office/drawing/2014/main" id="{D3CF6A42-7C13-4D45-BDB5-E7B7201E5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343150"/>
            <a:ext cx="23812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Trace</a:t>
            </a:r>
          </a:p>
          <a:p xmlns:a="http://schemas.openxmlformats.org/drawingml/2006/main">
            <a:pPr algn="l">
              <a:defRPr sz="34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Artifact</a:t>
            </a:r>
          </a:p>
          <a:p xmlns:a="http://schemas.openxmlformats.org/drawingml/2006/main">
            <a:pPr algn="l">
              <a:defRPr sz="34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Eval</a:t>
            </a:r>
          </a:p>
        </p:txBody>
      </p:sp>
      <p:sp>
        <p:nvSpPr>
          <p:cNvPr id="32" name="arch-contract-body">
            <a:extLst xmlns:a="http://schemas.openxmlformats.org/drawingml/2006/main">
              <a:ext uri="{FF2B5EF4-FFF2-40B4-BE49-F238E27FC236}">
                <a16:creationId xmlns:a16="http://schemas.microsoft.com/office/drawing/2014/main" id="{AA18BD31-3DED-4D37-BC71-00B522507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552950"/>
            <a:ext cx="24574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模型、MCP、存储和 UI 都可以替换；生命周期、策略和证据语义保持稳定。</a:t>
            </a:r>
          </a:p>
        </p:txBody>
      </p:sp>
    </p:spTree>
    <p:extLst>
      <p:ext uri="{BB962C8B-B14F-4D97-AF65-F5344CB8AC3E}">
        <p14:creationId xmlns:p14="http://schemas.microsoft.com/office/powerpoint/2010/main" val="51721560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eyebrow-5">
            <a:extLst xmlns:a="http://schemas.openxmlformats.org/drawingml/2006/main">
              <a:ext uri="{FF2B5EF4-FFF2-40B4-BE49-F238E27FC236}">
                <a16:creationId xmlns:a16="http://schemas.microsoft.com/office/drawing/2014/main" id="{6E8553DE-8943-4EEB-B081-A3C6E92EC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04 / RUNTIME</a:t>
            </a:r>
          </a:p>
        </p:txBody>
      </p:sp>
      <p:sp>
        <p:nvSpPr>
          <p:cNvPr id="2" name="title-5">
            <a:extLst xmlns:a="http://schemas.openxmlformats.org/drawingml/2006/main">
              <a:ext uri="{FF2B5EF4-FFF2-40B4-BE49-F238E27FC236}">
                <a16:creationId xmlns:a16="http://schemas.microsoft.com/office/drawing/2014/main" id="{3CFC6A84-A22E-443F-A501-B11209BB0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一次 run 的关键路径：每个决策都能落到事件和状态</a:t>
            </a:r>
          </a:p>
        </p:txBody>
      </p:sp>
      <p:sp>
        <p:nvSpPr>
          <p:cNvPr id="3" name="rule-5">
            <a:extLst xmlns:a="http://schemas.openxmlformats.org/drawingml/2006/main">
              <a:ext uri="{FF2B5EF4-FFF2-40B4-BE49-F238E27FC236}">
                <a16:creationId xmlns:a16="http://schemas.microsoft.com/office/drawing/2014/main" id="{A93B9E33-4332-425F-B026-4F6858BF9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5">
            <a:extLst xmlns:a="http://schemas.openxmlformats.org/drawingml/2006/main">
              <a:ext uri="{FF2B5EF4-FFF2-40B4-BE49-F238E27FC236}">
                <a16:creationId xmlns:a16="http://schemas.microsoft.com/office/drawing/2014/main" id="{B2CBCEC0-B623-4971-A84C-420807D5C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4191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3333"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5" name="footer-5">
            <a:extLst xmlns:a="http://schemas.openxmlformats.org/drawingml/2006/main">
              <a:ext uri="{FF2B5EF4-FFF2-40B4-BE49-F238E27FC236}">
                <a16:creationId xmlns:a16="http://schemas.microsoft.com/office/drawing/2014/main" id="{969E0F7E-3AA9-4A10-AE12-9CDE7461F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HarnessLab  |  Architecture review  |  2026-08-14</a:t>
            </a:r>
          </a:p>
        </p:txBody>
      </p:sp>
      <p:sp>
        <p:nvSpPr>
          <p:cNvPr id="6" name="run-num-0">
            <a:extLst xmlns:a="http://schemas.openxmlformats.org/drawingml/2006/main">
              <a:ext uri="{FF2B5EF4-FFF2-40B4-BE49-F238E27FC236}">
                <a16:creationId xmlns:a16="http://schemas.microsoft.com/office/drawing/2014/main" id="{CAA9F29B-C50C-437E-B990-E10725706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run-box-0">
            <a:extLst xmlns:a="http://schemas.openxmlformats.org/drawingml/2006/main">
              <a:ext uri="{FF2B5EF4-FFF2-40B4-BE49-F238E27FC236}">
                <a16:creationId xmlns:a16="http://schemas.microsoft.com/office/drawing/2014/main" id="{12E83D26-B96E-47CC-9DEF-7602EBD0C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05050"/>
            <a:ext cx="14859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8" name="run-label-0">
            <a:extLst xmlns:a="http://schemas.openxmlformats.org/drawingml/2006/main">
              <a:ext uri="{FF2B5EF4-FFF2-40B4-BE49-F238E27FC236}">
                <a16:creationId xmlns:a16="http://schemas.microsoft.com/office/drawing/2014/main" id="{690AB6FE-6CCE-4ACE-B3C8-2711CA480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1460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Submit</a:t>
            </a:r>
          </a:p>
        </p:txBody>
      </p:sp>
      <p:sp>
        <p:nvSpPr>
          <p:cNvPr id="9" name="run-desc-0">
            <a:extLst xmlns:a="http://schemas.openxmlformats.org/drawingml/2006/main">
              <a:ext uri="{FF2B5EF4-FFF2-40B4-BE49-F238E27FC236}">
                <a16:creationId xmlns:a16="http://schemas.microsoft.com/office/drawing/2014/main" id="{D312D4F4-959D-4832-AD60-9EC90DAA4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28950"/>
            <a:ext cx="114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request hash</a:t>
            </a:r>
          </a:p>
          <a:p xmlns:a="http://schemas.openxmlformats.org/drawingml/2006/main">
            <a:pPr algn="l">
              <a:defRPr sz="12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idempotency</a:t>
            </a:r>
          </a:p>
        </p:txBody>
      </p:sp>
      <p:sp>
        <p:nvSpPr>
          <p:cNvPr id="10" name="run-arrow-1">
            <a:extLst xmlns:a="http://schemas.openxmlformats.org/drawingml/2006/main">
              <a:ext uri="{FF2B5EF4-FFF2-40B4-BE49-F238E27FC236}">
                <a16:creationId xmlns:a16="http://schemas.microsoft.com/office/drawing/2014/main" id="{71C58AB9-3995-4AED-B2AD-8FA20C364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2838450"/>
            <a:ext cx="266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615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1" name="run-num-1">
            <a:extLst xmlns:a="http://schemas.openxmlformats.org/drawingml/2006/main">
              <a:ext uri="{FF2B5EF4-FFF2-40B4-BE49-F238E27FC236}">
                <a16:creationId xmlns:a16="http://schemas.microsoft.com/office/drawing/2014/main" id="{B88323D2-D7BB-4E88-B1D5-01982AB2D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86690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E74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E7490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2" name="run-box-1">
            <a:extLst xmlns:a="http://schemas.openxmlformats.org/drawingml/2006/main">
              <a:ext uri="{FF2B5EF4-FFF2-40B4-BE49-F238E27FC236}">
                <a16:creationId xmlns:a16="http://schemas.microsoft.com/office/drawing/2014/main" id="{8D5971B2-7273-41DC-91AD-744CEB450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305050"/>
            <a:ext cx="14859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3" name="run-label-1">
            <a:extLst xmlns:a="http://schemas.openxmlformats.org/drawingml/2006/main">
              <a:ext uri="{FF2B5EF4-FFF2-40B4-BE49-F238E27FC236}">
                <a16:creationId xmlns:a16="http://schemas.microsoft.com/office/drawing/2014/main" id="{CEF40BE4-F312-4D1C-A347-62FB9B668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51460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Route</a:t>
            </a:r>
          </a:p>
        </p:txBody>
      </p:sp>
      <p:sp>
        <p:nvSpPr>
          <p:cNvPr id="14" name="run-desc-1">
            <a:extLst xmlns:a="http://schemas.openxmlformats.org/drawingml/2006/main">
              <a:ext uri="{FF2B5EF4-FFF2-40B4-BE49-F238E27FC236}">
                <a16:creationId xmlns:a16="http://schemas.microsoft.com/office/drawing/2014/main" id="{ECD7497E-7228-4797-A864-78DBF7FF2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028950"/>
            <a:ext cx="114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359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simple / complex</a:t>
            </a:r>
          </a:p>
          <a:p xmlns:a="http://schemas.openxmlformats.org/drawingml/2006/main">
            <a:pPr algn="l">
              <a:defRPr sz="12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explainable score</a:t>
            </a:r>
          </a:p>
        </p:txBody>
      </p:sp>
      <p:sp>
        <p:nvSpPr>
          <p:cNvPr id="15" name="run-arrow-2">
            <a:extLst xmlns:a="http://schemas.openxmlformats.org/drawingml/2006/main">
              <a:ext uri="{FF2B5EF4-FFF2-40B4-BE49-F238E27FC236}">
                <a16:creationId xmlns:a16="http://schemas.microsoft.com/office/drawing/2014/main" id="{26E5FFD3-CBA9-431E-B0F5-CDA07AADD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838450"/>
            <a:ext cx="266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615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6" name="run-num-2">
            <a:extLst xmlns:a="http://schemas.openxmlformats.org/drawingml/2006/main">
              <a:ext uri="{FF2B5EF4-FFF2-40B4-BE49-F238E27FC236}">
                <a16:creationId xmlns:a16="http://schemas.microsoft.com/office/drawing/2014/main" id="{64F2BAF8-FA0F-4CC1-8899-4B2D99EC8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86690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379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3795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7" name="run-box-2">
            <a:extLst xmlns:a="http://schemas.openxmlformats.org/drawingml/2006/main">
              <a:ext uri="{FF2B5EF4-FFF2-40B4-BE49-F238E27FC236}">
                <a16:creationId xmlns:a16="http://schemas.microsoft.com/office/drawing/2014/main" id="{05B60C20-2A4E-4632-8711-F7D8A01A7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305050"/>
            <a:ext cx="14859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8" name="run-label-2">
            <a:extLst xmlns:a="http://schemas.openxmlformats.org/drawingml/2006/main">
              <a:ext uri="{FF2B5EF4-FFF2-40B4-BE49-F238E27FC236}">
                <a16:creationId xmlns:a16="http://schemas.microsoft.com/office/drawing/2014/main" id="{8491FA8F-00AE-487C-8932-03D924F89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51460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Plan</a:t>
            </a:r>
          </a:p>
        </p:txBody>
      </p:sp>
      <p:sp>
        <p:nvSpPr>
          <p:cNvPr id="19" name="run-desc-2">
            <a:extLst xmlns:a="http://schemas.openxmlformats.org/drawingml/2006/main">
              <a:ext uri="{FF2B5EF4-FFF2-40B4-BE49-F238E27FC236}">
                <a16:creationId xmlns:a16="http://schemas.microsoft.com/office/drawing/2014/main" id="{F3F35CE4-6A1A-4144-A99E-E5858D21E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028950"/>
            <a:ext cx="114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typed DAG</a:t>
            </a:r>
          </a:p>
          <a:p xmlns:a="http://schemas.openxmlformats.org/drawingml/2006/main">
            <a:pPr algn="l">
              <a:defRPr sz="12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validated deps</a:t>
            </a:r>
          </a:p>
        </p:txBody>
      </p:sp>
      <p:sp>
        <p:nvSpPr>
          <p:cNvPr id="20" name="run-arrow-3">
            <a:extLst xmlns:a="http://schemas.openxmlformats.org/drawingml/2006/main">
              <a:ext uri="{FF2B5EF4-FFF2-40B4-BE49-F238E27FC236}">
                <a16:creationId xmlns:a16="http://schemas.microsoft.com/office/drawing/2014/main" id="{F4D9C83A-8BDC-431D-830F-693D4BDA7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838450"/>
            <a:ext cx="266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615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1" name="run-num-3">
            <a:extLst xmlns:a="http://schemas.openxmlformats.org/drawingml/2006/main">
              <a:ext uri="{FF2B5EF4-FFF2-40B4-BE49-F238E27FC236}">
                <a16:creationId xmlns:a16="http://schemas.microsoft.com/office/drawing/2014/main" id="{8A157F96-954C-4875-8ABB-D9DC1EE80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86690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2" name="run-box-3">
            <a:extLst xmlns:a="http://schemas.openxmlformats.org/drawingml/2006/main">
              <a:ext uri="{FF2B5EF4-FFF2-40B4-BE49-F238E27FC236}">
                <a16:creationId xmlns:a16="http://schemas.microsoft.com/office/drawing/2014/main" id="{13747856-AEA5-4428-AF0F-E01AC4CBC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305050"/>
            <a:ext cx="14859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23" name="run-label-3">
            <a:extLst xmlns:a="http://schemas.openxmlformats.org/drawingml/2006/main">
              <a:ext uri="{FF2B5EF4-FFF2-40B4-BE49-F238E27FC236}">
                <a16:creationId xmlns:a16="http://schemas.microsoft.com/office/drawing/2014/main" id="{C19D28FA-3848-4C84-8398-1FFF2AEC8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51460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Gate</a:t>
            </a:r>
          </a:p>
        </p:txBody>
      </p:sp>
      <p:sp>
        <p:nvSpPr>
          <p:cNvPr id="24" name="run-desc-3">
            <a:extLst xmlns:a="http://schemas.openxmlformats.org/drawingml/2006/main">
              <a:ext uri="{FF2B5EF4-FFF2-40B4-BE49-F238E27FC236}">
                <a16:creationId xmlns:a16="http://schemas.microsoft.com/office/drawing/2014/main" id="{37088817-0259-439A-A160-20B44F746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028950"/>
            <a:ext cx="114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516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capability</a:t>
            </a:r>
          </a:p>
          <a:p xmlns:a="http://schemas.openxmlformats.org/drawingml/2006/main">
            <a:pPr algn="l">
              <a:defRPr sz="12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policy + budget</a:t>
            </a:r>
          </a:p>
        </p:txBody>
      </p:sp>
      <p:sp>
        <p:nvSpPr>
          <p:cNvPr id="25" name="run-arrow-4">
            <a:extLst xmlns:a="http://schemas.openxmlformats.org/drawingml/2006/main">
              <a:ext uri="{FF2B5EF4-FFF2-40B4-BE49-F238E27FC236}">
                <a16:creationId xmlns:a16="http://schemas.microsoft.com/office/drawing/2014/main" id="{37209D5C-347C-4095-A995-4055C1AEB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838450"/>
            <a:ext cx="266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615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6" name="run-num-4">
            <a:extLst xmlns:a="http://schemas.openxmlformats.org/drawingml/2006/main">
              <a:ext uri="{FF2B5EF4-FFF2-40B4-BE49-F238E27FC236}">
                <a16:creationId xmlns:a16="http://schemas.microsoft.com/office/drawing/2014/main" id="{FB19FC27-7ECD-4EE1-89F2-F1F413904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86690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42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B42318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7" name="run-box-4">
            <a:extLst xmlns:a="http://schemas.openxmlformats.org/drawingml/2006/main">
              <a:ext uri="{FF2B5EF4-FFF2-40B4-BE49-F238E27FC236}">
                <a16:creationId xmlns:a16="http://schemas.microsoft.com/office/drawing/2014/main" id="{6AE9B75C-DECE-4DF7-9A0F-DBF29E9DF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05050"/>
            <a:ext cx="14859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28" name="run-label-4">
            <a:extLst xmlns:a="http://schemas.openxmlformats.org/drawingml/2006/main">
              <a:ext uri="{FF2B5EF4-FFF2-40B4-BE49-F238E27FC236}">
                <a16:creationId xmlns:a16="http://schemas.microsoft.com/office/drawing/2014/main" id="{1314B2F6-1E70-4308-9E59-5EC979959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51460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Execute</a:t>
            </a:r>
          </a:p>
        </p:txBody>
      </p:sp>
      <p:sp>
        <p:nvSpPr>
          <p:cNvPr id="29" name="run-desc-4">
            <a:extLst xmlns:a="http://schemas.openxmlformats.org/drawingml/2006/main">
              <a:ext uri="{FF2B5EF4-FFF2-40B4-BE49-F238E27FC236}">
                <a16:creationId xmlns:a16="http://schemas.microsoft.com/office/drawing/2014/main" id="{9C42FC10-81DD-42B9-A654-FAB30B652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028950"/>
            <a:ext cx="114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tool call</a:t>
            </a:r>
          </a:p>
          <a:p xmlns:a="http://schemas.openxmlformats.org/drawingml/2006/main">
            <a:pPr algn="l">
              <a:defRPr sz="12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retry / replan</a:t>
            </a:r>
          </a:p>
        </p:txBody>
      </p:sp>
      <p:sp>
        <p:nvSpPr>
          <p:cNvPr id="30" name="run-arrow-5">
            <a:extLst xmlns:a="http://schemas.openxmlformats.org/drawingml/2006/main">
              <a:ext uri="{FF2B5EF4-FFF2-40B4-BE49-F238E27FC236}">
                <a16:creationId xmlns:a16="http://schemas.microsoft.com/office/drawing/2014/main" id="{F236A426-1D1F-46F2-9FDE-3478895C8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838450"/>
            <a:ext cx="266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615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31" name="run-num-5">
            <a:extLst xmlns:a="http://schemas.openxmlformats.org/drawingml/2006/main">
              <a:ext uri="{FF2B5EF4-FFF2-40B4-BE49-F238E27FC236}">
                <a16:creationId xmlns:a16="http://schemas.microsoft.com/office/drawing/2014/main" id="{EDC98825-9655-420D-B2FB-D3E8B4840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86690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32" name="run-box-5">
            <a:extLst xmlns:a="http://schemas.openxmlformats.org/drawingml/2006/main">
              <a:ext uri="{FF2B5EF4-FFF2-40B4-BE49-F238E27FC236}">
                <a16:creationId xmlns:a16="http://schemas.microsoft.com/office/drawing/2014/main" id="{42292E04-9009-4E0A-92F8-7257189C6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305050"/>
            <a:ext cx="14859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F16"/>
          </a:solidFill>
          <a:ln xmlns:a="http://schemas.openxmlformats.org/drawingml/2006/main" w="9525">
            <a:solidFill>
              <a:srgbClr val="0B0F16"/>
            </a:solidFill>
            <a:prstDash val="solid"/>
          </a:ln>
        </p:spPr>
      </p:sp>
      <p:sp>
        <p:nvSpPr>
          <p:cNvPr id="33" name="run-label-5">
            <a:extLst xmlns:a="http://schemas.openxmlformats.org/drawingml/2006/main">
              <a:ext uri="{FF2B5EF4-FFF2-40B4-BE49-F238E27FC236}">
                <a16:creationId xmlns:a16="http://schemas.microsoft.com/office/drawing/2014/main" id="{32A2174B-24C2-4D2B-9B63-91305F031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51460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Prove</a:t>
            </a:r>
          </a:p>
        </p:txBody>
      </p:sp>
      <p:sp>
        <p:nvSpPr>
          <p:cNvPr id="34" name="run-desc-5">
            <a:extLst xmlns:a="http://schemas.openxmlformats.org/drawingml/2006/main">
              <a:ext uri="{FF2B5EF4-FFF2-40B4-BE49-F238E27FC236}">
                <a16:creationId xmlns:a16="http://schemas.microsoft.com/office/drawing/2014/main" id="{115F170E-554E-4996-A975-D6B052788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028950"/>
            <a:ext cx="114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222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8C6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B8C6D8"/>
                </a:solidFill>
                <a:latin typeface="Microsoft YaHei"/>
                <a:ea typeface="Microsoft YaHei"/>
                <a:cs typeface="Microsoft YaHei"/>
              </a:rPr>
              <a:t>artifact</a:t>
            </a:r>
          </a:p>
          <a:p xmlns:a="http://schemas.openxmlformats.org/drawingml/2006/main">
            <a:pPr algn="l">
              <a:defRPr sz="1200" b="0">
                <a:solidFill>
                  <a:srgbClr val="B8C6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B8C6D8"/>
                </a:solidFill>
                <a:latin typeface="Microsoft YaHei"/>
                <a:ea typeface="Microsoft YaHei"/>
                <a:cs typeface="Microsoft YaHei"/>
              </a:rPr>
              <a:t>fingerprint + replay</a:t>
            </a:r>
          </a:p>
        </p:txBody>
      </p:sp>
      <p:sp>
        <p:nvSpPr>
          <p:cNvPr id="35" name="run-rule">
            <a:extLst xmlns:a="http://schemas.openxmlformats.org/drawingml/2006/main">
              <a:ext uri="{FF2B5EF4-FFF2-40B4-BE49-F238E27FC236}">
                <a16:creationId xmlns:a16="http://schemas.microsoft.com/office/drawing/2014/main" id="{D49F2FEB-B065-4028-8AAD-84384918C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95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run-principle">
            <a:extLst xmlns:a="http://schemas.openxmlformats.org/drawingml/2006/main">
              <a:ext uri="{FF2B5EF4-FFF2-40B4-BE49-F238E27FC236}">
                <a16:creationId xmlns:a16="http://schemas.microsoft.com/office/drawing/2014/main" id="{168D07AD-4255-4976-8CBB-D68C6794E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38700"/>
            <a:ext cx="9525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原则：模型输出只能提出下一步；控制平面决定是否允许、如何执行、失败怎么收敛。</a:t>
            </a:r>
          </a:p>
        </p:txBody>
      </p:sp>
    </p:spTree>
    <p:extLst>
      <p:ext uri="{BB962C8B-B14F-4D97-AF65-F5344CB8AC3E}">
        <p14:creationId xmlns:p14="http://schemas.microsoft.com/office/powerpoint/2010/main" val="176748453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eyebrow-6">
            <a:extLst xmlns:a="http://schemas.openxmlformats.org/drawingml/2006/main">
              <a:ext uri="{FF2B5EF4-FFF2-40B4-BE49-F238E27FC236}">
                <a16:creationId xmlns:a16="http://schemas.microsoft.com/office/drawing/2014/main" id="{61A8E858-D8EF-4AA0-BBA5-60F8403E2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05 / CONTEXT</a:t>
            </a:r>
          </a:p>
        </p:txBody>
      </p:sp>
      <p:sp>
        <p:nvSpPr>
          <p:cNvPr id="2" name="title-6">
            <a:extLst xmlns:a="http://schemas.openxmlformats.org/drawingml/2006/main">
              <a:ext uri="{FF2B5EF4-FFF2-40B4-BE49-F238E27FC236}">
                <a16:creationId xmlns:a16="http://schemas.microsoft.com/office/drawing/2014/main" id="{5392140B-25D7-46CA-809B-8C3612FED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80 个 MCP 不等于 80 个工具同时塞进 prompt</a:t>
            </a:r>
          </a:p>
        </p:txBody>
      </p:sp>
      <p:sp>
        <p:nvSpPr>
          <p:cNvPr id="3" name="rule-6">
            <a:extLst xmlns:a="http://schemas.openxmlformats.org/drawingml/2006/main">
              <a:ext uri="{FF2B5EF4-FFF2-40B4-BE49-F238E27FC236}">
                <a16:creationId xmlns:a16="http://schemas.microsoft.com/office/drawing/2014/main" id="{4DF466A2-BC4F-4F9F-A6EE-AB98166A4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6">
            <a:extLst xmlns:a="http://schemas.openxmlformats.org/drawingml/2006/main">
              <a:ext uri="{FF2B5EF4-FFF2-40B4-BE49-F238E27FC236}">
                <a16:creationId xmlns:a16="http://schemas.microsoft.com/office/drawing/2014/main" id="{3BB41712-5A58-4A50-BCAD-66116A93E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4191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3333"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5" name="footer-6">
            <a:extLst xmlns:a="http://schemas.openxmlformats.org/drawingml/2006/main">
              <a:ext uri="{FF2B5EF4-FFF2-40B4-BE49-F238E27FC236}">
                <a16:creationId xmlns:a16="http://schemas.microsoft.com/office/drawing/2014/main" id="{98CF2C6B-ACE3-4AC7-B6CE-EC166A6DB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HarnessLab  |  Architecture review  |  2026-08-14</a:t>
            </a:r>
          </a:p>
        </p:txBody>
      </p:sp>
      <p:sp>
        <p:nvSpPr>
          <p:cNvPr id="6" name="tools-lead">
            <a:extLst xmlns:a="http://schemas.openxmlformats.org/drawingml/2006/main">
              <a:ext uri="{FF2B5EF4-FFF2-40B4-BE49-F238E27FC236}">
                <a16:creationId xmlns:a16="http://schemas.microsoft.com/office/drawing/2014/main" id="{71CDC90F-76BC-48FF-A9D2-DB7AA2B63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609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工具发现与工具暴露必须分离。</a:t>
            </a:r>
          </a:p>
        </p:txBody>
      </p:sp>
      <p:sp>
        <p:nvSpPr>
          <p:cNvPr id="7" name="tool-value-0">
            <a:extLst xmlns:a="http://schemas.openxmlformats.org/drawingml/2006/main">
              <a:ext uri="{FF2B5EF4-FFF2-40B4-BE49-F238E27FC236}">
                <a16:creationId xmlns:a16="http://schemas.microsoft.com/office/drawing/2014/main" id="{795CD582-75C4-41D5-8878-99F77454B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1619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80+</a:t>
            </a:r>
          </a:p>
        </p:txBody>
      </p:sp>
      <p:sp>
        <p:nvSpPr>
          <p:cNvPr id="8" name="tool-label-0">
            <a:extLst xmlns:a="http://schemas.openxmlformats.org/drawingml/2006/main">
              <a:ext uri="{FF2B5EF4-FFF2-40B4-BE49-F238E27FC236}">
                <a16:creationId xmlns:a16="http://schemas.microsoft.com/office/drawing/2014/main" id="{97553E6C-6CD2-4CC7-BA20-51ECE84C1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956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registry</a:t>
            </a:r>
          </a:p>
        </p:txBody>
      </p:sp>
      <p:sp>
        <p:nvSpPr>
          <p:cNvPr id="9" name="tool-desc-0">
            <a:extLst xmlns:a="http://schemas.openxmlformats.org/drawingml/2006/main">
              <a:ext uri="{FF2B5EF4-FFF2-40B4-BE49-F238E27FC236}">
                <a16:creationId xmlns:a16="http://schemas.microsoft.com/office/drawing/2014/main" id="{C0C5A108-015E-464A-98C8-9B42E0C6B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57550"/>
            <a:ext cx="1619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all MCP tools</a:t>
            </a:r>
          </a:p>
        </p:txBody>
      </p:sp>
      <p:sp>
        <p:nvSpPr>
          <p:cNvPr id="10" name="tool-arrow-1">
            <a:extLst xmlns:a="http://schemas.openxmlformats.org/drawingml/2006/main">
              <a:ext uri="{FF2B5EF4-FFF2-40B4-BE49-F238E27FC236}">
                <a16:creationId xmlns:a16="http://schemas.microsoft.com/office/drawing/2014/main" id="{A68B85BE-6FA8-4592-B341-8EC585665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686050"/>
            <a:ext cx="304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1" name="tool-value-1">
            <a:extLst xmlns:a="http://schemas.openxmlformats.org/drawingml/2006/main">
              <a:ext uri="{FF2B5EF4-FFF2-40B4-BE49-F238E27FC236}">
                <a16:creationId xmlns:a16="http://schemas.microsoft.com/office/drawing/2014/main" id="{7F6025CC-448A-4B6E-9EBF-BA3A77F99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190750"/>
            <a:ext cx="1619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2" name="tool-label-1">
            <a:extLst xmlns:a="http://schemas.openxmlformats.org/drawingml/2006/main">
              <a:ext uri="{FF2B5EF4-FFF2-40B4-BE49-F238E27FC236}">
                <a16:creationId xmlns:a16="http://schemas.microsoft.com/office/drawing/2014/main" id="{F6D51933-6D00-4CDA-A247-B7E8CD195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8956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rank</a:t>
            </a:r>
          </a:p>
        </p:txBody>
      </p:sp>
      <p:sp>
        <p:nvSpPr>
          <p:cNvPr id="13" name="tool-desc-1">
            <a:extLst xmlns:a="http://schemas.openxmlformats.org/drawingml/2006/main">
              <a:ext uri="{FF2B5EF4-FFF2-40B4-BE49-F238E27FC236}">
                <a16:creationId xmlns:a16="http://schemas.microsoft.com/office/drawing/2014/main" id="{47A0ABFC-0EE9-4434-BB0F-A23C4FD55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257550"/>
            <a:ext cx="1619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task relevance</a:t>
            </a:r>
          </a:p>
        </p:txBody>
      </p:sp>
      <p:sp>
        <p:nvSpPr>
          <p:cNvPr id="14" name="tool-arrow-2">
            <a:extLst xmlns:a="http://schemas.openxmlformats.org/drawingml/2006/main">
              <a:ext uri="{FF2B5EF4-FFF2-40B4-BE49-F238E27FC236}">
                <a16:creationId xmlns:a16="http://schemas.microsoft.com/office/drawing/2014/main" id="{8AFAB0F3-D984-4FF3-8AC5-58BFAE872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686050"/>
            <a:ext cx="304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5" name="tool-value-2">
            <a:extLst xmlns:a="http://schemas.openxmlformats.org/drawingml/2006/main">
              <a:ext uri="{FF2B5EF4-FFF2-40B4-BE49-F238E27FC236}">
                <a16:creationId xmlns:a16="http://schemas.microsoft.com/office/drawing/2014/main" id="{78B95C5E-D63D-460A-B2DA-4BBA9C7E8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190750"/>
            <a:ext cx="1619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E74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0E7490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6" name="tool-label-2">
            <a:extLst xmlns:a="http://schemas.openxmlformats.org/drawingml/2006/main">
              <a:ext uri="{FF2B5EF4-FFF2-40B4-BE49-F238E27FC236}">
                <a16:creationId xmlns:a16="http://schemas.microsoft.com/office/drawing/2014/main" id="{522147A1-6973-428C-8725-FC2C5C2EA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8956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normalize</a:t>
            </a:r>
          </a:p>
        </p:txBody>
      </p:sp>
      <p:sp>
        <p:nvSpPr>
          <p:cNvPr id="17" name="tool-desc-2">
            <a:extLst xmlns:a="http://schemas.openxmlformats.org/drawingml/2006/main">
              <a:ext uri="{FF2B5EF4-FFF2-40B4-BE49-F238E27FC236}">
                <a16:creationId xmlns:a16="http://schemas.microsoft.com/office/drawing/2014/main" id="{F84FEB13-BE14-4018-AEFF-5F9902FD4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257550"/>
            <a:ext cx="1619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remove noisy metadata</a:t>
            </a:r>
          </a:p>
        </p:txBody>
      </p:sp>
      <p:sp>
        <p:nvSpPr>
          <p:cNvPr id="18" name="tool-arrow-3">
            <a:extLst xmlns:a="http://schemas.openxmlformats.org/drawingml/2006/main">
              <a:ext uri="{FF2B5EF4-FFF2-40B4-BE49-F238E27FC236}">
                <a16:creationId xmlns:a16="http://schemas.microsoft.com/office/drawing/2014/main" id="{63F2F882-5740-4DC0-B523-0444306EE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686050"/>
            <a:ext cx="304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9" name="tool-value-3">
            <a:extLst xmlns:a="http://schemas.openxmlformats.org/drawingml/2006/main">
              <a:ext uri="{FF2B5EF4-FFF2-40B4-BE49-F238E27FC236}">
                <a16:creationId xmlns:a16="http://schemas.microsoft.com/office/drawing/2014/main" id="{96303B1F-223E-4220-9A46-B8A6B3CAD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190750"/>
            <a:ext cx="1619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0" name="tool-label-3">
            <a:extLst xmlns:a="http://schemas.openxmlformats.org/drawingml/2006/main">
              <a:ext uri="{FF2B5EF4-FFF2-40B4-BE49-F238E27FC236}">
                <a16:creationId xmlns:a16="http://schemas.microsoft.com/office/drawing/2014/main" id="{3BE991C2-A904-4A7D-884A-773C7BEDB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8956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budget</a:t>
            </a:r>
          </a:p>
        </p:txBody>
      </p:sp>
      <p:sp>
        <p:nvSpPr>
          <p:cNvPr id="21" name="tool-desc-3">
            <a:extLst xmlns:a="http://schemas.openxmlformats.org/drawingml/2006/main">
              <a:ext uri="{FF2B5EF4-FFF2-40B4-BE49-F238E27FC236}">
                <a16:creationId xmlns:a16="http://schemas.microsoft.com/office/drawing/2014/main" id="{41FC4C32-A727-494D-89F8-887AC6354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257550"/>
            <a:ext cx="1619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count + schema tokens</a:t>
            </a:r>
          </a:p>
        </p:txBody>
      </p:sp>
      <p:sp>
        <p:nvSpPr>
          <p:cNvPr id="22" name="tool-arrow-4">
            <a:extLst xmlns:a="http://schemas.openxmlformats.org/drawingml/2006/main">
              <a:ext uri="{FF2B5EF4-FFF2-40B4-BE49-F238E27FC236}">
                <a16:creationId xmlns:a16="http://schemas.microsoft.com/office/drawing/2014/main" id="{2B013AA7-C7C2-4DD5-BD7F-ED8C78008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686050"/>
            <a:ext cx="304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3" name="tool-value-4">
            <a:extLst xmlns:a="http://schemas.openxmlformats.org/drawingml/2006/main">
              <a:ext uri="{FF2B5EF4-FFF2-40B4-BE49-F238E27FC236}">
                <a16:creationId xmlns:a16="http://schemas.microsoft.com/office/drawing/2014/main" id="{67959167-3BFD-454B-9717-DF09C1707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190750"/>
            <a:ext cx="1619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379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3795B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24" name="tool-label-4">
            <a:extLst xmlns:a="http://schemas.openxmlformats.org/drawingml/2006/main">
              <a:ext uri="{FF2B5EF4-FFF2-40B4-BE49-F238E27FC236}">
                <a16:creationId xmlns:a16="http://schemas.microsoft.com/office/drawing/2014/main" id="{A44714CA-945B-4F98-9A82-B687F41CB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8956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model view</a:t>
            </a:r>
          </a:p>
        </p:txBody>
      </p:sp>
      <p:sp>
        <p:nvSpPr>
          <p:cNvPr id="25" name="tool-desc-4">
            <a:extLst xmlns:a="http://schemas.openxmlformats.org/drawingml/2006/main">
              <a:ext uri="{FF2B5EF4-FFF2-40B4-BE49-F238E27FC236}">
                <a16:creationId xmlns:a16="http://schemas.microsoft.com/office/drawing/2014/main" id="{1BA091A1-4B0F-49C0-A965-5B2B92977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257550"/>
            <a:ext cx="1619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per-turn exposure</a:t>
            </a:r>
          </a:p>
        </p:txBody>
      </p:sp>
      <p:sp>
        <p:nvSpPr>
          <p:cNvPr id="26" name="tool-budget">
            <a:extLst xmlns:a="http://schemas.openxmlformats.org/drawingml/2006/main">
              <a:ext uri="{FF2B5EF4-FFF2-40B4-BE49-F238E27FC236}">
                <a16:creationId xmlns:a16="http://schemas.microsoft.com/office/drawing/2014/main" id="{9EA2251E-56B3-441E-A88B-DADADF56F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108204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F16"/>
          </a:solidFill>
          <a:ln xmlns:a="http://schemas.openxmlformats.org/drawingml/2006/main" w="9525">
            <a:solidFill>
              <a:srgbClr val="0B0F16"/>
            </a:solidFill>
            <a:prstDash val="solid"/>
          </a:ln>
        </p:spPr>
      </p:sp>
      <p:sp>
        <p:nvSpPr>
          <p:cNvPr id="27" name="tool-budget-title">
            <a:extLst xmlns:a="http://schemas.openxmlformats.org/drawingml/2006/main">
              <a:ext uri="{FF2B5EF4-FFF2-40B4-BE49-F238E27FC236}">
                <a16:creationId xmlns:a16="http://schemas.microsoft.com/office/drawing/2014/main" id="{117ADD4B-298D-4AD2-B9B0-3281D0252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76250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8EB5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8EB5FF"/>
                </a:solidFill>
                <a:latin typeface="Microsoft YaHei"/>
                <a:ea typeface="Microsoft YaHei"/>
                <a:cs typeface="Microsoft YaHei"/>
              </a:rPr>
              <a:t>硬边界</a:t>
            </a:r>
          </a:p>
        </p:txBody>
      </p:sp>
      <p:sp>
        <p:nvSpPr>
          <p:cNvPr id="28" name="tool-budget-copy">
            <a:extLst xmlns:a="http://schemas.openxmlformats.org/drawingml/2006/main">
              <a:ext uri="{FF2B5EF4-FFF2-40B4-BE49-F238E27FC236}">
                <a16:creationId xmlns:a16="http://schemas.microsoft.com/office/drawing/2014/main" id="{65D4D8CD-4BCA-433B-A261-970FEB32C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762500"/>
            <a:ext cx="819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6812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max_exposed_tools = 12     |     max_tool_schema_tokens = 8,000     |     dropped tools recorded in run metadata</a:t>
            </a:r>
          </a:p>
        </p:txBody>
      </p:sp>
    </p:spTree>
    <p:extLst>
      <p:ext uri="{BB962C8B-B14F-4D97-AF65-F5344CB8AC3E}">
        <p14:creationId xmlns:p14="http://schemas.microsoft.com/office/powerpoint/2010/main" val="74386578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eyebrow-7">
            <a:extLst xmlns:a="http://schemas.openxmlformats.org/drawingml/2006/main">
              <a:ext uri="{FF2B5EF4-FFF2-40B4-BE49-F238E27FC236}">
                <a16:creationId xmlns:a16="http://schemas.microsoft.com/office/drawing/2014/main" id="{1432CE93-6A7D-4E36-9442-F32DC38D6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06 / MEMORY</a:t>
            </a:r>
          </a:p>
        </p:txBody>
      </p:sp>
      <p:sp>
        <p:nvSpPr>
          <p:cNvPr id="2" name="title-7">
            <a:extLst xmlns:a="http://schemas.openxmlformats.org/drawingml/2006/main">
              <a:ext uri="{FF2B5EF4-FFF2-40B4-BE49-F238E27FC236}">
                <a16:creationId xmlns:a16="http://schemas.microsoft.com/office/drawing/2014/main" id="{5823925A-52FD-4862-A37A-8BF81EA1C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454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长期记忆的目标不是“存得更多”，而是“更少、更准、更可解释”</a:t>
            </a:r>
          </a:p>
        </p:txBody>
      </p:sp>
      <p:sp>
        <p:nvSpPr>
          <p:cNvPr id="3" name="rule-7">
            <a:extLst xmlns:a="http://schemas.openxmlformats.org/drawingml/2006/main">
              <a:ext uri="{FF2B5EF4-FFF2-40B4-BE49-F238E27FC236}">
                <a16:creationId xmlns:a16="http://schemas.microsoft.com/office/drawing/2014/main" id="{3BB67A31-B88B-4EA4-899D-29755921A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7">
            <a:extLst xmlns:a="http://schemas.openxmlformats.org/drawingml/2006/main">
              <a:ext uri="{FF2B5EF4-FFF2-40B4-BE49-F238E27FC236}">
                <a16:creationId xmlns:a16="http://schemas.microsoft.com/office/drawing/2014/main" id="{38429EEA-AF18-42EA-8E15-CF7133378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4191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3333"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5" name="footer-7">
            <a:extLst xmlns:a="http://schemas.openxmlformats.org/drawingml/2006/main">
              <a:ext uri="{FF2B5EF4-FFF2-40B4-BE49-F238E27FC236}">
                <a16:creationId xmlns:a16="http://schemas.microsoft.com/office/drawing/2014/main" id="{7BDC861E-CFBB-43E2-8EEC-143578008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HarnessLab  |  Architecture review  |  2026-08-14</a:t>
            </a:r>
          </a:p>
        </p:txBody>
      </p:sp>
      <p:sp>
        <p:nvSpPr>
          <p:cNvPr id="6" name="memory-0">
            <a:extLst xmlns:a="http://schemas.openxmlformats.org/drawingml/2006/main">
              <a:ext uri="{FF2B5EF4-FFF2-40B4-BE49-F238E27FC236}">
                <a16:creationId xmlns:a16="http://schemas.microsoft.com/office/drawing/2014/main" id="{834FF4EE-0312-4321-9270-35A622CE3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230505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7" name="memory-accent-0">
            <a:extLst xmlns:a="http://schemas.openxmlformats.org/drawingml/2006/main">
              <a:ext uri="{FF2B5EF4-FFF2-40B4-BE49-F238E27FC236}">
                <a16:creationId xmlns:a16="http://schemas.microsoft.com/office/drawing/2014/main" id="{AE57FFF8-4C26-4C9D-840D-BD2B857A1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23050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memory-label-0">
            <a:extLst xmlns:a="http://schemas.openxmlformats.org/drawingml/2006/main">
              <a:ext uri="{FF2B5EF4-FFF2-40B4-BE49-F238E27FC236}">
                <a16:creationId xmlns:a16="http://schemas.microsoft.com/office/drawing/2014/main" id="{01EE91B7-3DA6-4251-9853-521ABC078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812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写入前</a:t>
            </a:r>
          </a:p>
        </p:txBody>
      </p:sp>
      <p:sp>
        <p:nvSpPr>
          <p:cNvPr id="9" name="memory-desc-0">
            <a:extLst xmlns:a="http://schemas.openxmlformats.org/drawingml/2006/main">
              <a:ext uri="{FF2B5EF4-FFF2-40B4-BE49-F238E27FC236}">
                <a16:creationId xmlns:a16="http://schemas.microsoft.com/office/drawing/2014/main" id="{0F0A3BA8-AA7A-4C6D-9D2C-A8A194EBF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52750"/>
            <a:ext cx="1809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事实 / 偏好 / 事件</a:t>
            </a:r>
          </a:p>
          <a:p xmlns:a="http://schemas.openxmlformats.org/drawingml/2006/main">
            <a:pPr algn="l">
              <a:defRPr sz="142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归一化 + 指纹去重</a:t>
            </a:r>
          </a:p>
        </p:txBody>
      </p:sp>
      <p:sp>
        <p:nvSpPr>
          <p:cNvPr id="10" name="memory-arrow-0">
            <a:extLst xmlns:a="http://schemas.openxmlformats.org/drawingml/2006/main">
              <a:ext uri="{FF2B5EF4-FFF2-40B4-BE49-F238E27FC236}">
                <a16:creationId xmlns:a16="http://schemas.microsoft.com/office/drawing/2014/main" id="{18B7CAB7-9C2A-4B18-BB5B-2A67D76B9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857500"/>
            <a:ext cx="419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1" name="memory-1">
            <a:extLst xmlns:a="http://schemas.openxmlformats.org/drawingml/2006/main">
              <a:ext uri="{FF2B5EF4-FFF2-40B4-BE49-F238E27FC236}">
                <a16:creationId xmlns:a16="http://schemas.microsoft.com/office/drawing/2014/main" id="{E4500BFE-3D14-4805-B0F3-65245163B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076450"/>
            <a:ext cx="230505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2" name="memory-accent-1">
            <a:extLst xmlns:a="http://schemas.openxmlformats.org/drawingml/2006/main">
              <a:ext uri="{FF2B5EF4-FFF2-40B4-BE49-F238E27FC236}">
                <a16:creationId xmlns:a16="http://schemas.microsoft.com/office/drawing/2014/main" id="{B57127BD-9CA1-4241-8D6F-4F91C4A37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076450"/>
            <a:ext cx="23050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49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memory-label-1">
            <a:extLst xmlns:a="http://schemas.openxmlformats.org/drawingml/2006/main">
              <a:ext uri="{FF2B5EF4-FFF2-40B4-BE49-F238E27FC236}">
                <a16:creationId xmlns:a16="http://schemas.microsoft.com/office/drawing/2014/main" id="{AF7210A9-7B56-4D33-B82E-C1E29F685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3812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74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E7490"/>
                </a:solidFill>
                <a:latin typeface="Microsoft YaHei"/>
                <a:ea typeface="Microsoft YaHei"/>
                <a:cs typeface="Microsoft YaHei"/>
              </a:rPr>
              <a:t>存储时</a:t>
            </a:r>
          </a:p>
        </p:txBody>
      </p:sp>
      <p:sp>
        <p:nvSpPr>
          <p:cNvPr id="14" name="memory-desc-1">
            <a:extLst xmlns:a="http://schemas.openxmlformats.org/drawingml/2006/main">
              <a:ext uri="{FF2B5EF4-FFF2-40B4-BE49-F238E27FC236}">
                <a16:creationId xmlns:a16="http://schemas.microsoft.com/office/drawing/2014/main" id="{61ED95D8-F225-4CE0-9E16-103558B65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952750"/>
            <a:ext cx="1809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TTL + importance</a:t>
            </a:r>
          </a:p>
          <a:p xmlns:a="http://schemas.openxmlformats.org/drawingml/2006/main">
            <a:pPr algn="l">
              <a:defRPr sz="142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namespace + version CAS</a:t>
            </a:r>
          </a:p>
        </p:txBody>
      </p:sp>
      <p:sp>
        <p:nvSpPr>
          <p:cNvPr id="15" name="memory-arrow-1">
            <a:extLst xmlns:a="http://schemas.openxmlformats.org/drawingml/2006/main">
              <a:ext uri="{FF2B5EF4-FFF2-40B4-BE49-F238E27FC236}">
                <a16:creationId xmlns:a16="http://schemas.microsoft.com/office/drawing/2014/main" id="{D4C5E097-5824-42DD-BFA1-5AA84ED4F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857500"/>
            <a:ext cx="419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6" name="memory-2">
            <a:extLst xmlns:a="http://schemas.openxmlformats.org/drawingml/2006/main">
              <a:ext uri="{FF2B5EF4-FFF2-40B4-BE49-F238E27FC236}">
                <a16:creationId xmlns:a16="http://schemas.microsoft.com/office/drawing/2014/main" id="{122197E1-76B8-4EBC-AF7F-2A798C849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076450"/>
            <a:ext cx="230505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7" name="memory-accent-2">
            <a:extLst xmlns:a="http://schemas.openxmlformats.org/drawingml/2006/main">
              <a:ext uri="{FF2B5EF4-FFF2-40B4-BE49-F238E27FC236}">
                <a16:creationId xmlns:a16="http://schemas.microsoft.com/office/drawing/2014/main" id="{67D51516-2BED-4C16-AD4F-EA969DD02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076450"/>
            <a:ext cx="23050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79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memory-label-2">
            <a:extLst xmlns:a="http://schemas.openxmlformats.org/drawingml/2006/main">
              <a:ext uri="{FF2B5EF4-FFF2-40B4-BE49-F238E27FC236}">
                <a16:creationId xmlns:a16="http://schemas.microsoft.com/office/drawing/2014/main" id="{51EE5160-A1C9-4D18-AD1E-B1443F764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3812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379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3795B"/>
                </a:solidFill>
                <a:latin typeface="Microsoft YaHei"/>
                <a:ea typeface="Microsoft YaHei"/>
                <a:cs typeface="Microsoft YaHei"/>
              </a:rPr>
              <a:t>召回时</a:t>
            </a:r>
          </a:p>
        </p:txBody>
      </p:sp>
      <p:sp>
        <p:nvSpPr>
          <p:cNvPr id="19" name="memory-desc-2">
            <a:extLst xmlns:a="http://schemas.openxmlformats.org/drawingml/2006/main">
              <a:ext uri="{FF2B5EF4-FFF2-40B4-BE49-F238E27FC236}">
                <a16:creationId xmlns:a16="http://schemas.microsoft.com/office/drawing/2014/main" id="{D359608B-A584-4AB2-8CF9-B68A5787F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952750"/>
            <a:ext cx="1809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lexical + recency</a:t>
            </a:r>
          </a:p>
          <a:p xmlns:a="http://schemas.openxmlformats.org/drawingml/2006/main">
            <a:pPr algn="l">
              <a:defRPr sz="142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importance + threshold</a:t>
            </a:r>
          </a:p>
        </p:txBody>
      </p:sp>
      <p:sp>
        <p:nvSpPr>
          <p:cNvPr id="20" name="memory-arrow-2">
            <a:extLst xmlns:a="http://schemas.openxmlformats.org/drawingml/2006/main">
              <a:ext uri="{FF2B5EF4-FFF2-40B4-BE49-F238E27FC236}">
                <a16:creationId xmlns:a16="http://schemas.microsoft.com/office/drawing/2014/main" id="{5B2311F7-4A5E-4F60-856F-729DC08BD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857500"/>
            <a:ext cx="419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1" name="memory-3">
            <a:extLst xmlns:a="http://schemas.openxmlformats.org/drawingml/2006/main">
              <a:ext uri="{FF2B5EF4-FFF2-40B4-BE49-F238E27FC236}">
                <a16:creationId xmlns:a16="http://schemas.microsoft.com/office/drawing/2014/main" id="{12833AC7-E59D-4053-91C5-B2126040C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076450"/>
            <a:ext cx="230505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22" name="memory-accent-3">
            <a:extLst xmlns:a="http://schemas.openxmlformats.org/drawingml/2006/main">
              <a:ext uri="{FF2B5EF4-FFF2-40B4-BE49-F238E27FC236}">
                <a16:creationId xmlns:a16="http://schemas.microsoft.com/office/drawing/2014/main" id="{74CC923E-D6AC-48E7-8E07-8D987CDF3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076450"/>
            <a:ext cx="23050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memory-label-3">
            <a:extLst xmlns:a="http://schemas.openxmlformats.org/drawingml/2006/main">
              <a:ext uri="{FF2B5EF4-FFF2-40B4-BE49-F238E27FC236}">
                <a16:creationId xmlns:a16="http://schemas.microsoft.com/office/drawing/2014/main" id="{F23DB7EE-42BB-478B-8CA0-D5A2C9DA3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3812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编译时</a:t>
            </a:r>
          </a:p>
        </p:txBody>
      </p:sp>
      <p:sp>
        <p:nvSpPr>
          <p:cNvPr id="24" name="memory-desc-3">
            <a:extLst xmlns:a="http://schemas.openxmlformats.org/drawingml/2006/main">
              <a:ext uri="{FF2B5EF4-FFF2-40B4-BE49-F238E27FC236}">
                <a16:creationId xmlns:a16="http://schemas.microsoft.com/office/drawing/2014/main" id="{ABCEB333-3337-463A-BAC2-8A16C632B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952750"/>
            <a:ext cx="1809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token window</a:t>
            </a:r>
          </a:p>
          <a:p xmlns:a="http://schemas.openxmlformats.org/drawingml/2006/main">
            <a:pPr algn="l">
              <a:defRPr sz="142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保留 system / intent</a:t>
            </a:r>
          </a:p>
        </p:txBody>
      </p:sp>
      <p:sp>
        <p:nvSpPr>
          <p:cNvPr id="25" name="memory-rule">
            <a:extLst xmlns:a="http://schemas.openxmlformats.org/drawingml/2006/main">
              <a:ext uri="{FF2B5EF4-FFF2-40B4-BE49-F238E27FC236}">
                <a16:creationId xmlns:a16="http://schemas.microsoft.com/office/drawing/2014/main" id="{480B7A9C-5707-473B-B01E-9F5E43DEE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053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memory-rule-text">
            <a:extLst xmlns:a="http://schemas.openxmlformats.org/drawingml/2006/main">
              <a:ext uri="{FF2B5EF4-FFF2-40B4-BE49-F238E27FC236}">
                <a16:creationId xmlns:a16="http://schemas.microsoft.com/office/drawing/2014/main" id="{62415745-34EF-4355-B142-E43A680CA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29200"/>
            <a:ext cx="1047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检索质量 = 召回相关性 × 新鲜度 × 可信度；容量上限、去重率和无关记忆率必须被监控。</a:t>
            </a:r>
          </a:p>
        </p:txBody>
      </p:sp>
    </p:spTree>
    <p:extLst>
      <p:ext uri="{BB962C8B-B14F-4D97-AF65-F5344CB8AC3E}">
        <p14:creationId xmlns:p14="http://schemas.microsoft.com/office/powerpoint/2010/main" val="96095717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eyebrow-8">
            <a:extLst xmlns:a="http://schemas.openxmlformats.org/drawingml/2006/main">
              <a:ext uri="{FF2B5EF4-FFF2-40B4-BE49-F238E27FC236}">
                <a16:creationId xmlns:a16="http://schemas.microsoft.com/office/drawing/2014/main" id="{48888B06-A327-4B22-8F5E-71BD6FD99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07 / SECURITY</a:t>
            </a:r>
          </a:p>
        </p:txBody>
      </p:sp>
      <p:sp>
        <p:nvSpPr>
          <p:cNvPr id="2" name="title-8">
            <a:extLst xmlns:a="http://schemas.openxmlformats.org/drawingml/2006/main">
              <a:ext uri="{FF2B5EF4-FFF2-40B4-BE49-F238E27FC236}">
                <a16:creationId xmlns:a16="http://schemas.microsoft.com/office/drawing/2014/main" id="{0EF77F23-DD12-465B-8370-D36D6F515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2751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安全是两道门：taint 识别不可信数据，capability 决定能否产生副作用</a:t>
            </a:r>
          </a:p>
        </p:txBody>
      </p:sp>
      <p:sp>
        <p:nvSpPr>
          <p:cNvPr id="3" name="rule-8">
            <a:extLst xmlns:a="http://schemas.openxmlformats.org/drawingml/2006/main">
              <a:ext uri="{FF2B5EF4-FFF2-40B4-BE49-F238E27FC236}">
                <a16:creationId xmlns:a16="http://schemas.microsoft.com/office/drawing/2014/main" id="{782708B5-5ABC-41D7-99FF-6886D24FE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8">
            <a:extLst xmlns:a="http://schemas.openxmlformats.org/drawingml/2006/main">
              <a:ext uri="{FF2B5EF4-FFF2-40B4-BE49-F238E27FC236}">
                <a16:creationId xmlns:a16="http://schemas.microsoft.com/office/drawing/2014/main" id="{5642F463-B7C3-4E40-8372-2878D6AC5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4191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3333"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5" name="footer-8">
            <a:extLst xmlns:a="http://schemas.openxmlformats.org/drawingml/2006/main">
              <a:ext uri="{FF2B5EF4-FFF2-40B4-BE49-F238E27FC236}">
                <a16:creationId xmlns:a16="http://schemas.microsoft.com/office/drawing/2014/main" id="{974B071E-2277-405E-A49D-24A12D271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HarnessLab  |  Architecture review  |  2026-08-14</a:t>
            </a:r>
          </a:p>
        </p:txBody>
      </p:sp>
      <p:sp>
        <p:nvSpPr>
          <p:cNvPr id="6" name="security-untrusted">
            <a:extLst xmlns:a="http://schemas.openxmlformats.org/drawingml/2006/main">
              <a:ext uri="{FF2B5EF4-FFF2-40B4-BE49-F238E27FC236}">
                <a16:creationId xmlns:a16="http://schemas.microsoft.com/office/drawing/2014/main" id="{4FBCBE6A-D2D0-4F47-96CF-4F4875A3F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25717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ED7AA"/>
            </a:solidFill>
            <a:prstDash val="solid"/>
          </a:ln>
        </p:spPr>
      </p:sp>
      <p:sp>
        <p:nvSpPr>
          <p:cNvPr id="7" name="security-untrusted-title">
            <a:extLst xmlns:a="http://schemas.openxmlformats.org/drawingml/2006/main">
              <a:ext uri="{FF2B5EF4-FFF2-40B4-BE49-F238E27FC236}">
                <a16:creationId xmlns:a16="http://schemas.microsoft.com/office/drawing/2014/main" id="{301F7C36-56EA-46BE-83BE-40C421685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4790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UNTRUSTED</a:t>
            </a:r>
          </a:p>
        </p:txBody>
      </p:sp>
      <p:sp>
        <p:nvSpPr>
          <p:cNvPr id="8" name="security-untrusted-body">
            <a:extLst xmlns:a="http://schemas.openxmlformats.org/drawingml/2006/main">
              <a:ext uri="{FF2B5EF4-FFF2-40B4-BE49-F238E27FC236}">
                <a16:creationId xmlns:a16="http://schemas.microsoft.com/office/drawing/2014/main" id="{2A12884B-90EB-4673-B623-DFC14814C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62250"/>
            <a:ext cx="1905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154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模型输出</a:t>
            </a:r>
          </a:p>
          <a:p xmlns:a="http://schemas.openxmlformats.org/drawingml/2006/main">
            <a:pPr algn="l">
              <a:defRPr sz="19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网页 / 检索</a:t>
            </a:r>
          </a:p>
          <a:p xmlns:a="http://schemas.openxmlformats.org/drawingml/2006/main">
            <a:pPr algn="l">
              <a:defRPr sz="19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MCP response</a:t>
            </a:r>
          </a:p>
          <a:p xmlns:a="http://schemas.openxmlformats.org/drawingml/2006/main">
            <a:pPr algn="l">
              <a:defRPr sz="19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用户输入</a:t>
            </a:r>
          </a:p>
        </p:txBody>
      </p:sp>
      <p:sp>
        <p:nvSpPr>
          <p:cNvPr id="9" name="security-arrow-1">
            <a:extLst xmlns:a="http://schemas.openxmlformats.org/drawingml/2006/main">
              <a:ext uri="{FF2B5EF4-FFF2-40B4-BE49-F238E27FC236}">
                <a16:creationId xmlns:a16="http://schemas.microsoft.com/office/drawing/2014/main" id="{66B0E50B-A5CB-459F-9527-340CF4F78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876550"/>
            <a:ext cx="609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0" name="security-taint">
            <a:extLst xmlns:a="http://schemas.openxmlformats.org/drawingml/2006/main">
              <a:ext uri="{FF2B5EF4-FFF2-40B4-BE49-F238E27FC236}">
                <a16:creationId xmlns:a16="http://schemas.microsoft.com/office/drawing/2014/main" id="{F1E1DDF3-682E-417A-82CD-4EB538344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924050"/>
            <a:ext cx="28575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0E7490"/>
            </a:solidFill>
            <a:prstDash val="solid"/>
          </a:ln>
        </p:spPr>
      </p:sp>
      <p:sp>
        <p:nvSpPr>
          <p:cNvPr id="11" name="security-taint-title">
            <a:extLst xmlns:a="http://schemas.openxmlformats.org/drawingml/2006/main">
              <a:ext uri="{FF2B5EF4-FFF2-40B4-BE49-F238E27FC236}">
                <a16:creationId xmlns:a16="http://schemas.microsoft.com/office/drawing/2014/main" id="{ADDE85F5-F3D4-4F57-8695-54AA2D1E6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2479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E74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E7490"/>
                </a:solidFill>
                <a:latin typeface="Microsoft YaHei"/>
                <a:ea typeface="Microsoft YaHei"/>
                <a:cs typeface="Microsoft YaHei"/>
              </a:rPr>
              <a:t>TAINT + POLICY</a:t>
            </a:r>
          </a:p>
        </p:txBody>
      </p:sp>
      <p:sp>
        <p:nvSpPr>
          <p:cNvPr id="12" name="security-taint-body">
            <a:extLst xmlns:a="http://schemas.openxmlformats.org/drawingml/2006/main">
              <a:ext uri="{FF2B5EF4-FFF2-40B4-BE49-F238E27FC236}">
                <a16:creationId xmlns:a16="http://schemas.microsoft.com/office/drawing/2014/main" id="{F1278F8C-E6F4-4958-A4DD-DC233B3C7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762250"/>
            <a:ext cx="22479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858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检测越权指令</a:t>
            </a:r>
          </a:p>
          <a:p xmlns:a="http://schemas.openxmlformats.org/drawingml/2006/main">
            <a:pPr algn="l">
              <a:defRPr sz="18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传播 trust level</a:t>
            </a:r>
          </a:p>
          <a:p xmlns:a="http://schemas.openxmlformats.org/drawingml/2006/main">
            <a:pPr algn="l">
              <a:defRPr sz="18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校验 schema</a:t>
            </a:r>
          </a:p>
          <a:p xmlns:a="http://schemas.openxmlformats.org/drawingml/2006/main">
            <a:pPr algn="l">
              <a:defRPr sz="18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记录 policy decision</a:t>
            </a:r>
          </a:p>
        </p:txBody>
      </p:sp>
      <p:sp>
        <p:nvSpPr>
          <p:cNvPr id="13" name="security-arrow-2">
            <a:extLst xmlns:a="http://schemas.openxmlformats.org/drawingml/2006/main">
              <a:ext uri="{FF2B5EF4-FFF2-40B4-BE49-F238E27FC236}">
                <a16:creationId xmlns:a16="http://schemas.microsoft.com/office/drawing/2014/main" id="{F1B69323-AA93-4DA0-9EDA-1F0193CE8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876550"/>
            <a:ext cx="609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E74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E7490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4" name="security-capability">
            <a:extLst xmlns:a="http://schemas.openxmlformats.org/drawingml/2006/main">
              <a:ext uri="{FF2B5EF4-FFF2-40B4-BE49-F238E27FC236}">
                <a16:creationId xmlns:a16="http://schemas.microsoft.com/office/drawing/2014/main" id="{2677FA2C-22FC-4EEE-8881-57E24393D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924050"/>
            <a:ext cx="31813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F16"/>
          </a:solidFill>
          <a:ln xmlns:a="http://schemas.openxmlformats.org/drawingml/2006/main" w="9525">
            <a:solidFill>
              <a:srgbClr val="0B0F16"/>
            </a:solidFill>
            <a:prstDash val="solid"/>
          </a:ln>
        </p:spPr>
      </p:sp>
      <p:sp>
        <p:nvSpPr>
          <p:cNvPr id="15" name="security-capability-title">
            <a:extLst xmlns:a="http://schemas.openxmlformats.org/drawingml/2006/main">
              <a:ext uri="{FF2B5EF4-FFF2-40B4-BE49-F238E27FC236}">
                <a16:creationId xmlns:a16="http://schemas.microsoft.com/office/drawing/2014/main" id="{ECB35272-3CB0-48D1-8226-80F2FBD24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247900"/>
            <a:ext cx="2533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8EB5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8EB5FF"/>
                </a:solidFill>
                <a:latin typeface="Microsoft YaHei"/>
                <a:ea typeface="Microsoft YaHei"/>
                <a:cs typeface="Microsoft YaHei"/>
              </a:rPr>
              <a:t>CAPABILITY GATE</a:t>
            </a:r>
          </a:p>
        </p:txBody>
      </p:sp>
      <p:sp>
        <p:nvSpPr>
          <p:cNvPr id="16" name="security-capability-body">
            <a:extLst xmlns:a="http://schemas.openxmlformats.org/drawingml/2006/main">
              <a:ext uri="{FF2B5EF4-FFF2-40B4-BE49-F238E27FC236}">
                <a16:creationId xmlns:a16="http://schemas.microsoft.com/office/drawing/2014/main" id="{66B988C4-28D7-4775-BCCB-2590FE6AA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762250"/>
            <a:ext cx="25336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run_id scoped</a:t>
            </a:r>
          </a:p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HMAC signed</a:t>
            </a:r>
          </a:p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side-effect deny by default</a:t>
            </a:r>
          </a:p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approval before execute</a:t>
            </a:r>
          </a:p>
        </p:txBody>
      </p:sp>
      <p:sp>
        <p:nvSpPr>
          <p:cNvPr id="17" name="security-foot">
            <a:extLst xmlns:a="http://schemas.openxmlformats.org/drawingml/2006/main">
              <a:ext uri="{FF2B5EF4-FFF2-40B4-BE49-F238E27FC236}">
                <a16:creationId xmlns:a16="http://schemas.microsoft.com/office/drawing/2014/main" id="{3479EBFE-E924-4AA4-BE0B-D4E67FD5B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2920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Prompt injection 漏检时，最小权限仍然阻断 deploy / write。</a:t>
            </a:r>
          </a:p>
        </p:txBody>
      </p:sp>
    </p:spTree>
    <p:extLst>
      <p:ext uri="{BB962C8B-B14F-4D97-AF65-F5344CB8AC3E}">
        <p14:creationId xmlns:p14="http://schemas.microsoft.com/office/powerpoint/2010/main" val="15796844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eyebrow-9">
            <a:extLst xmlns:a="http://schemas.openxmlformats.org/drawingml/2006/main">
              <a:ext uri="{FF2B5EF4-FFF2-40B4-BE49-F238E27FC236}">
                <a16:creationId xmlns:a16="http://schemas.microsoft.com/office/drawing/2014/main" id="{A7C264BC-11AF-4417-8156-818890074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08 / RECOVERY</a:t>
            </a:r>
          </a:p>
        </p:txBody>
      </p:sp>
      <p:sp>
        <p:nvSpPr>
          <p:cNvPr id="2" name="title-9">
            <a:extLst xmlns:a="http://schemas.openxmlformats.org/drawingml/2006/main">
              <a:ext uri="{FF2B5EF4-FFF2-40B4-BE49-F238E27FC236}">
                <a16:creationId xmlns:a16="http://schemas.microsoft.com/office/drawing/2014/main" id="{A27C04AB-4CF5-453F-8285-95434278D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故障语义必须可区分：重试、重规划、回滚不是同一个按钮</a:t>
            </a:r>
          </a:p>
        </p:txBody>
      </p:sp>
      <p:sp>
        <p:nvSpPr>
          <p:cNvPr id="3" name="rule-9">
            <a:extLst xmlns:a="http://schemas.openxmlformats.org/drawingml/2006/main">
              <a:ext uri="{FF2B5EF4-FFF2-40B4-BE49-F238E27FC236}">
                <a16:creationId xmlns:a16="http://schemas.microsoft.com/office/drawing/2014/main" id="{37C17AB5-F949-4571-9BB6-ABB41FAFC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9">
            <a:extLst xmlns:a="http://schemas.openxmlformats.org/drawingml/2006/main">
              <a:ext uri="{FF2B5EF4-FFF2-40B4-BE49-F238E27FC236}">
                <a16:creationId xmlns:a16="http://schemas.microsoft.com/office/drawing/2014/main" id="{CB1B3D07-9728-44C0-B844-C8888DC5C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4191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3333"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5" name="footer-9">
            <a:extLst xmlns:a="http://schemas.openxmlformats.org/drawingml/2006/main">
              <a:ext uri="{FF2B5EF4-FFF2-40B4-BE49-F238E27FC236}">
                <a16:creationId xmlns:a16="http://schemas.microsoft.com/office/drawing/2014/main" id="{2B2EF4CB-2E3A-4CC2-8F56-0D96396FF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HarnessLab  |  Architecture review  |  2026-08-14</a:t>
            </a:r>
          </a:p>
        </p:txBody>
      </p:sp>
      <p:sp>
        <p:nvSpPr>
          <p:cNvPr id="6" name="recovery-head-1">
            <a:extLst xmlns:a="http://schemas.openxmlformats.org/drawingml/2006/main">
              <a:ext uri="{FF2B5EF4-FFF2-40B4-BE49-F238E27FC236}">
                <a16:creationId xmlns:a16="http://schemas.microsoft.com/office/drawing/2014/main" id="{09A5E252-1F94-43DB-94ED-90884AAFE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097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动作</a:t>
            </a:r>
          </a:p>
        </p:txBody>
      </p:sp>
      <p:sp>
        <p:nvSpPr>
          <p:cNvPr id="7" name="recovery-head-2">
            <a:extLst xmlns:a="http://schemas.openxmlformats.org/drawingml/2006/main">
              <a:ext uri="{FF2B5EF4-FFF2-40B4-BE49-F238E27FC236}">
                <a16:creationId xmlns:a16="http://schemas.microsoft.com/office/drawing/2014/main" id="{19F6F183-8723-4D18-82B6-1604DF21E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8097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触发条件</a:t>
            </a:r>
          </a:p>
        </p:txBody>
      </p:sp>
      <p:sp>
        <p:nvSpPr>
          <p:cNvPr id="8" name="recovery-head-3">
            <a:extLst xmlns:a="http://schemas.openxmlformats.org/drawingml/2006/main">
              <a:ext uri="{FF2B5EF4-FFF2-40B4-BE49-F238E27FC236}">
                <a16:creationId xmlns:a16="http://schemas.microsoft.com/office/drawing/2014/main" id="{368BBE72-D4FB-4E39-9173-5C8EC7BE5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1809750"/>
            <a:ext cx="3524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保证</a:t>
            </a:r>
          </a:p>
        </p:txBody>
      </p:sp>
      <p:sp>
        <p:nvSpPr>
          <p:cNvPr id="9" name="recovery-row-0">
            <a:extLst xmlns:a="http://schemas.openxmlformats.org/drawingml/2006/main">
              <a:ext uri="{FF2B5EF4-FFF2-40B4-BE49-F238E27FC236}">
                <a16:creationId xmlns:a16="http://schemas.microsoft.com/office/drawing/2014/main" id="{D7639FA0-D6E5-42BB-B512-E62B274EE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recovery-action-0">
            <a:extLst xmlns:a="http://schemas.openxmlformats.org/drawingml/2006/main">
              <a:ext uri="{FF2B5EF4-FFF2-40B4-BE49-F238E27FC236}">
                <a16:creationId xmlns:a16="http://schemas.microsoft.com/office/drawing/2014/main" id="{AD57DC77-46C4-4B96-B505-A2DEB2A23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2885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Retry</a:t>
            </a:r>
          </a:p>
        </p:txBody>
      </p:sp>
      <p:sp>
        <p:nvSpPr>
          <p:cNvPr id="11" name="recovery-trigger-0">
            <a:extLst xmlns:a="http://schemas.openxmlformats.org/drawingml/2006/main">
              <a:ext uri="{FF2B5EF4-FFF2-40B4-BE49-F238E27FC236}">
                <a16:creationId xmlns:a16="http://schemas.microsoft.com/office/drawing/2014/main" id="{B01CF51D-6359-45E6-B296-D367B1ED2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228850"/>
            <a:ext cx="3257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瞬时错误 + 幂等工具</a:t>
            </a:r>
          </a:p>
        </p:txBody>
      </p:sp>
      <p:sp>
        <p:nvSpPr>
          <p:cNvPr id="12" name="recovery-guarantee-0">
            <a:extLst xmlns:a="http://schemas.openxmlformats.org/drawingml/2006/main">
              <a:ext uri="{FF2B5EF4-FFF2-40B4-BE49-F238E27FC236}">
                <a16:creationId xmlns:a16="http://schemas.microsoft.com/office/drawing/2014/main" id="{553774E2-7524-4C09-9849-8B1975823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22885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同一计划，有限次数</a:t>
            </a:r>
          </a:p>
        </p:txBody>
      </p:sp>
      <p:sp>
        <p:nvSpPr>
          <p:cNvPr id="13" name="recovery-row-1">
            <a:extLst xmlns:a="http://schemas.openxmlformats.org/drawingml/2006/main">
              <a:ext uri="{FF2B5EF4-FFF2-40B4-BE49-F238E27FC236}">
                <a16:creationId xmlns:a16="http://schemas.microsoft.com/office/drawing/2014/main" id="{AFB16C4B-6330-4F2A-9336-7EF36A23D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recovery-action-1">
            <a:extLst xmlns:a="http://schemas.openxmlformats.org/drawingml/2006/main">
              <a:ext uri="{FF2B5EF4-FFF2-40B4-BE49-F238E27FC236}">
                <a16:creationId xmlns:a16="http://schemas.microsoft.com/office/drawing/2014/main" id="{D7AF4715-D2BE-4BCB-BCCB-B4EACBABB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7180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E74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E7490"/>
                </a:solidFill>
                <a:latin typeface="Microsoft YaHei"/>
                <a:ea typeface="Microsoft YaHei"/>
                <a:cs typeface="Microsoft YaHei"/>
              </a:rPr>
              <a:t>Replan</a:t>
            </a:r>
          </a:p>
        </p:txBody>
      </p:sp>
      <p:sp>
        <p:nvSpPr>
          <p:cNvPr id="15" name="recovery-trigger-1">
            <a:extLst xmlns:a="http://schemas.openxmlformats.org/drawingml/2006/main">
              <a:ext uri="{FF2B5EF4-FFF2-40B4-BE49-F238E27FC236}">
                <a16:creationId xmlns:a16="http://schemas.microsoft.com/office/drawing/2014/main" id="{43D98682-1DE7-4F1B-8E75-FB72C4271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971800"/>
            <a:ext cx="3257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原路径不可用，目标仍成立</a:t>
            </a:r>
          </a:p>
        </p:txBody>
      </p:sp>
      <p:sp>
        <p:nvSpPr>
          <p:cNvPr id="16" name="recovery-guarantee-1">
            <a:extLst xmlns:a="http://schemas.openxmlformats.org/drawingml/2006/main">
              <a:ext uri="{FF2B5EF4-FFF2-40B4-BE49-F238E27FC236}">
                <a16:creationId xmlns:a16="http://schemas.microsoft.com/office/drawing/2014/main" id="{B74EB4BD-ED1B-4217-9FD9-04559BC44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97180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显式切换到安全 fallback</a:t>
            </a:r>
          </a:p>
        </p:txBody>
      </p:sp>
      <p:sp>
        <p:nvSpPr>
          <p:cNvPr id="17" name="recovery-row-2">
            <a:extLst xmlns:a="http://schemas.openxmlformats.org/drawingml/2006/main">
              <a:ext uri="{FF2B5EF4-FFF2-40B4-BE49-F238E27FC236}">
                <a16:creationId xmlns:a16="http://schemas.microsoft.com/office/drawing/2014/main" id="{F51D9682-A6B3-4219-A780-4242AED61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672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recovery-action-2">
            <a:extLst xmlns:a="http://schemas.openxmlformats.org/drawingml/2006/main">
              <a:ext uri="{FF2B5EF4-FFF2-40B4-BE49-F238E27FC236}">
                <a16:creationId xmlns:a16="http://schemas.microsoft.com/office/drawing/2014/main" id="{C0C63722-875D-4BB7-BDEA-18A1FCF80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1475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B42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B42318"/>
                </a:solidFill>
                <a:latin typeface="Microsoft YaHei"/>
                <a:ea typeface="Microsoft YaHei"/>
                <a:cs typeface="Microsoft YaHei"/>
              </a:rPr>
              <a:t>Rollback</a:t>
            </a:r>
          </a:p>
        </p:txBody>
      </p:sp>
      <p:sp>
        <p:nvSpPr>
          <p:cNvPr id="19" name="recovery-trigger-2">
            <a:extLst xmlns:a="http://schemas.openxmlformats.org/drawingml/2006/main">
              <a:ext uri="{FF2B5EF4-FFF2-40B4-BE49-F238E27FC236}">
                <a16:creationId xmlns:a16="http://schemas.microsoft.com/office/drawing/2014/main" id="{A5AFA416-0B71-44A4-A611-ADC029865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714750"/>
            <a:ext cx="3257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副作用已成功，后续不可恢复</a:t>
            </a:r>
          </a:p>
        </p:txBody>
      </p:sp>
      <p:sp>
        <p:nvSpPr>
          <p:cNvPr id="20" name="recovery-guarantee-2">
            <a:extLst xmlns:a="http://schemas.openxmlformats.org/drawingml/2006/main">
              <a:ext uri="{FF2B5EF4-FFF2-40B4-BE49-F238E27FC236}">
                <a16:creationId xmlns:a16="http://schemas.microsoft.com/office/drawing/2014/main" id="{4AD75CB1-95C9-4138-A60B-E363FFEC6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71475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逆完成顺序执行 compensation</a:t>
            </a:r>
          </a:p>
        </p:txBody>
      </p:sp>
      <p:sp>
        <p:nvSpPr>
          <p:cNvPr id="21" name="recovery-row-3">
            <a:extLst xmlns:a="http://schemas.openxmlformats.org/drawingml/2006/main">
              <a:ext uri="{FF2B5EF4-FFF2-40B4-BE49-F238E27FC236}">
                <a16:creationId xmlns:a16="http://schemas.microsoft.com/office/drawing/2014/main" id="{8AE36131-7C0B-4916-A245-EF5F9F385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101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recovery-action-3">
            <a:extLst xmlns:a="http://schemas.openxmlformats.org/drawingml/2006/main">
              <a:ext uri="{FF2B5EF4-FFF2-40B4-BE49-F238E27FC236}">
                <a16:creationId xmlns:a16="http://schemas.microsoft.com/office/drawing/2014/main" id="{BEDF0F84-AD35-4841-B8D5-26319D992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5770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Stop</a:t>
            </a:r>
          </a:p>
        </p:txBody>
      </p:sp>
      <p:sp>
        <p:nvSpPr>
          <p:cNvPr id="23" name="recovery-trigger-3">
            <a:extLst xmlns:a="http://schemas.openxmlformats.org/drawingml/2006/main">
              <a:ext uri="{FF2B5EF4-FFF2-40B4-BE49-F238E27FC236}">
                <a16:creationId xmlns:a16="http://schemas.microsoft.com/office/drawing/2014/main" id="{CBB9C760-4F55-4057-89BB-6D283A711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4457700"/>
            <a:ext cx="3257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权限 / 预算 / 参数错误</a:t>
            </a:r>
          </a:p>
        </p:txBody>
      </p:sp>
      <p:sp>
        <p:nvSpPr>
          <p:cNvPr id="24" name="recovery-guarantee-3">
            <a:extLst xmlns:a="http://schemas.openxmlformats.org/drawingml/2006/main">
              <a:ext uri="{FF2B5EF4-FFF2-40B4-BE49-F238E27FC236}">
                <a16:creationId xmlns:a16="http://schemas.microsoft.com/office/drawing/2014/main" id="{5D1B3335-3CA3-49C9-8A29-3334D59B1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45770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fail closed，不盲目重试</a:t>
            </a:r>
          </a:p>
        </p:txBody>
      </p:sp>
      <p:sp>
        <p:nvSpPr>
          <p:cNvPr id="25" name="recovery-callout">
            <a:extLst xmlns:a="http://schemas.openxmlformats.org/drawingml/2006/main">
              <a:ext uri="{FF2B5EF4-FFF2-40B4-BE49-F238E27FC236}">
                <a16:creationId xmlns:a16="http://schemas.microsoft.com/office/drawing/2014/main" id="{90CFE77D-0247-42EE-A2E1-721185ED9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91150"/>
            <a:ext cx="10820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26" name="recovery-callout-text">
            <a:extLst xmlns:a="http://schemas.openxmlformats.org/drawingml/2006/main">
              <a:ext uri="{FF2B5EF4-FFF2-40B4-BE49-F238E27FC236}">
                <a16:creationId xmlns:a16="http://schemas.microsoft.com/office/drawing/2014/main" id="{4A2A23DC-423E-42EF-B362-55CE9E007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524500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5 个 reference scenarios 覆盖 retry / replan / rollback / injection / budget。</a:t>
            </a:r>
          </a:p>
        </p:txBody>
      </p:sp>
    </p:spTree>
    <p:extLst>
      <p:ext uri="{BB962C8B-B14F-4D97-AF65-F5344CB8AC3E}">
        <p14:creationId xmlns:p14="http://schemas.microsoft.com/office/powerpoint/2010/main" val="176786193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eyebrow-10">
            <a:extLst xmlns:a="http://schemas.openxmlformats.org/drawingml/2006/main">
              <a:ext uri="{FF2B5EF4-FFF2-40B4-BE49-F238E27FC236}">
                <a16:creationId xmlns:a16="http://schemas.microsoft.com/office/drawing/2014/main" id="{3AC79E60-C2F2-43B7-99C6-B52D1A3E6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09 / EVIDENCE</a:t>
            </a:r>
          </a:p>
        </p:txBody>
      </p:sp>
      <p:sp>
        <p:nvSpPr>
          <p:cNvPr id="2" name="title-10">
            <a:extLst xmlns:a="http://schemas.openxmlformats.org/drawingml/2006/main">
              <a:ext uri="{FF2B5EF4-FFF2-40B4-BE49-F238E27FC236}">
                <a16:creationId xmlns:a16="http://schemas.microsoft.com/office/drawing/2014/main" id="{6E805F39-C051-4AE8-8AA2-8C107E51C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把执行过程做成产品：Trace Contract、artifact、replay、diff</a:t>
            </a:r>
          </a:p>
        </p:txBody>
      </p:sp>
      <p:sp>
        <p:nvSpPr>
          <p:cNvPr id="3" name="rule-10">
            <a:extLst xmlns:a="http://schemas.openxmlformats.org/drawingml/2006/main">
              <a:ext uri="{FF2B5EF4-FFF2-40B4-BE49-F238E27FC236}">
                <a16:creationId xmlns:a16="http://schemas.microsoft.com/office/drawing/2014/main" id="{2A96C4E4-DD6D-4663-B7B8-4550312B0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10">
            <a:extLst xmlns:a="http://schemas.openxmlformats.org/drawingml/2006/main">
              <a:ext uri="{FF2B5EF4-FFF2-40B4-BE49-F238E27FC236}">
                <a16:creationId xmlns:a16="http://schemas.microsoft.com/office/drawing/2014/main" id="{EE28777F-A914-4913-816C-E48F566F2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4191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3333"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5" name="footer-10">
            <a:extLst xmlns:a="http://schemas.openxmlformats.org/drawingml/2006/main">
              <a:ext uri="{FF2B5EF4-FFF2-40B4-BE49-F238E27FC236}">
                <a16:creationId xmlns:a16="http://schemas.microsoft.com/office/drawing/2014/main" id="{CC897D6E-0FD5-44E6-A496-FF4192A0F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HarnessLab  |  Architecture review  |  2026-08-14</a:t>
            </a:r>
          </a:p>
        </p:txBody>
      </p:sp>
      <p:sp>
        <p:nvSpPr>
          <p:cNvPr id="6" name="evidence-box-0">
            <a:extLst xmlns:a="http://schemas.openxmlformats.org/drawingml/2006/main">
              <a:ext uri="{FF2B5EF4-FFF2-40B4-BE49-F238E27FC236}">
                <a16:creationId xmlns:a16="http://schemas.microsoft.com/office/drawing/2014/main" id="{DB68FFC9-51F5-4BE7-956C-35D560331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17526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7" name="evidence-label-0">
            <a:extLst xmlns:a="http://schemas.openxmlformats.org/drawingml/2006/main">
              <a:ext uri="{FF2B5EF4-FFF2-40B4-BE49-F238E27FC236}">
                <a16:creationId xmlns:a16="http://schemas.microsoft.com/office/drawing/2014/main" id="{56314BD4-6297-4041-B19D-71ACED45B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7650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Event stream</a:t>
            </a:r>
          </a:p>
        </p:txBody>
      </p:sp>
      <p:sp>
        <p:nvSpPr>
          <p:cNvPr id="8" name="evidence-desc-0">
            <a:extLst xmlns:a="http://schemas.openxmlformats.org/drawingml/2006/main">
              <a:ext uri="{FF2B5EF4-FFF2-40B4-BE49-F238E27FC236}">
                <a16:creationId xmlns:a16="http://schemas.microsoft.com/office/drawing/2014/main" id="{D0641B7F-7B70-4D88-B2D0-630F2A497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28950"/>
            <a:ext cx="1409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8235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ordered lifecycle</a:t>
            </a:r>
          </a:p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policy + tool correlation</a:t>
            </a:r>
          </a:p>
        </p:txBody>
      </p:sp>
      <p:sp>
        <p:nvSpPr>
          <p:cNvPr id="9" name="evidence-arrow-1">
            <a:extLst xmlns:a="http://schemas.openxmlformats.org/drawingml/2006/main">
              <a:ext uri="{FF2B5EF4-FFF2-40B4-BE49-F238E27FC236}">
                <a16:creationId xmlns:a16="http://schemas.microsoft.com/office/drawing/2014/main" id="{91523923-E933-40F6-BFCA-91DF7C20A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800350"/>
            <a:ext cx="323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0" name="evidence-box-1">
            <a:extLst xmlns:a="http://schemas.openxmlformats.org/drawingml/2006/main">
              <a:ext uri="{FF2B5EF4-FFF2-40B4-BE49-F238E27FC236}">
                <a16:creationId xmlns:a16="http://schemas.microsoft.com/office/drawing/2014/main" id="{0FB72CC0-C4A2-4E08-A0BA-5B7A0C481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247900"/>
            <a:ext cx="17526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1" name="evidence-label-1">
            <a:extLst xmlns:a="http://schemas.openxmlformats.org/drawingml/2006/main">
              <a:ext uri="{FF2B5EF4-FFF2-40B4-BE49-F238E27FC236}">
                <a16:creationId xmlns:a16="http://schemas.microsoft.com/office/drawing/2014/main" id="{8135C52A-C451-43AB-A017-B2D653EEF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47650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74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E7490"/>
                </a:solidFill>
                <a:latin typeface="Microsoft YaHei"/>
                <a:ea typeface="Microsoft YaHei"/>
                <a:cs typeface="Microsoft YaHei"/>
              </a:rPr>
              <a:t>Fingerprint</a:t>
            </a:r>
          </a:p>
        </p:txBody>
      </p:sp>
      <p:sp>
        <p:nvSpPr>
          <p:cNvPr id="12" name="evidence-desc-1">
            <a:extLst xmlns:a="http://schemas.openxmlformats.org/drawingml/2006/main">
              <a:ext uri="{FF2B5EF4-FFF2-40B4-BE49-F238E27FC236}">
                <a16:creationId xmlns:a16="http://schemas.microsoft.com/office/drawing/2014/main" id="{C68B9272-A6FD-41D8-86FB-4CF1E2BF1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028950"/>
            <a:ext cx="1409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protocol shape</a:t>
            </a:r>
          </a:p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content integrity</a:t>
            </a:r>
          </a:p>
        </p:txBody>
      </p:sp>
      <p:sp>
        <p:nvSpPr>
          <p:cNvPr id="13" name="evidence-arrow-2">
            <a:extLst xmlns:a="http://schemas.openxmlformats.org/drawingml/2006/main">
              <a:ext uri="{FF2B5EF4-FFF2-40B4-BE49-F238E27FC236}">
                <a16:creationId xmlns:a16="http://schemas.microsoft.com/office/drawing/2014/main" id="{036CF594-891D-4041-8DC9-4C8B623A8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800350"/>
            <a:ext cx="323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4" name="evidence-box-2">
            <a:extLst xmlns:a="http://schemas.openxmlformats.org/drawingml/2006/main">
              <a:ext uri="{FF2B5EF4-FFF2-40B4-BE49-F238E27FC236}">
                <a16:creationId xmlns:a16="http://schemas.microsoft.com/office/drawing/2014/main" id="{6E3C5E06-8DDF-465C-B2FF-1546659D9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247900"/>
            <a:ext cx="17526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5" name="evidence-label-2">
            <a:extLst xmlns:a="http://schemas.openxmlformats.org/drawingml/2006/main">
              <a:ext uri="{FF2B5EF4-FFF2-40B4-BE49-F238E27FC236}">
                <a16:creationId xmlns:a16="http://schemas.microsoft.com/office/drawing/2014/main" id="{5D8C4BD7-107D-450C-80B9-66A2756A5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47650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379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3795B"/>
                </a:solidFill>
                <a:latin typeface="Microsoft YaHei"/>
                <a:ea typeface="Microsoft YaHei"/>
                <a:cs typeface="Microsoft YaHei"/>
              </a:rPr>
              <a:t>Artifact</a:t>
            </a:r>
          </a:p>
        </p:txBody>
      </p:sp>
      <p:sp>
        <p:nvSpPr>
          <p:cNvPr id="16" name="evidence-desc-2">
            <a:extLst xmlns:a="http://schemas.openxmlformats.org/drawingml/2006/main">
              <a:ext uri="{FF2B5EF4-FFF2-40B4-BE49-F238E27FC236}">
                <a16:creationId xmlns:a16="http://schemas.microsoft.com/office/drawing/2014/main" id="{5F03CC20-D2BF-4F16-BF4C-15B7D482E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028950"/>
            <a:ext cx="1409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redacted portable</a:t>
            </a:r>
          </a:p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run evidence</a:t>
            </a:r>
          </a:p>
        </p:txBody>
      </p:sp>
      <p:sp>
        <p:nvSpPr>
          <p:cNvPr id="17" name="evidence-arrow-3">
            <a:extLst xmlns:a="http://schemas.openxmlformats.org/drawingml/2006/main">
              <a:ext uri="{FF2B5EF4-FFF2-40B4-BE49-F238E27FC236}">
                <a16:creationId xmlns:a16="http://schemas.microsoft.com/office/drawing/2014/main" id="{E4F43EE8-DE0F-437F-BEA2-E3B266BC4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800350"/>
            <a:ext cx="323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8" name="evidence-box-3">
            <a:extLst xmlns:a="http://schemas.openxmlformats.org/drawingml/2006/main">
              <a:ext uri="{FF2B5EF4-FFF2-40B4-BE49-F238E27FC236}">
                <a16:creationId xmlns:a16="http://schemas.microsoft.com/office/drawing/2014/main" id="{63588874-B5E2-4572-8F55-4E39DE97B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247900"/>
            <a:ext cx="17526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9" name="evidence-label-3">
            <a:extLst xmlns:a="http://schemas.openxmlformats.org/drawingml/2006/main">
              <a:ext uri="{FF2B5EF4-FFF2-40B4-BE49-F238E27FC236}">
                <a16:creationId xmlns:a16="http://schemas.microsoft.com/office/drawing/2014/main" id="{C4905827-BE92-4EA9-8DAC-49DFB7A9A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47650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Replay</a:t>
            </a:r>
          </a:p>
        </p:txBody>
      </p:sp>
      <p:sp>
        <p:nvSpPr>
          <p:cNvPr id="20" name="evidence-desc-3">
            <a:extLst xmlns:a="http://schemas.openxmlformats.org/drawingml/2006/main">
              <a:ext uri="{FF2B5EF4-FFF2-40B4-BE49-F238E27FC236}">
                <a16:creationId xmlns:a16="http://schemas.microsoft.com/office/drawing/2014/main" id="{171D9C70-2A64-41D6-8458-94B4945D6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028950"/>
            <a:ext cx="1409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offline invariant</a:t>
            </a:r>
          </a:p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verification</a:t>
            </a:r>
          </a:p>
        </p:txBody>
      </p:sp>
      <p:sp>
        <p:nvSpPr>
          <p:cNvPr id="21" name="evidence-arrow-4">
            <a:extLst xmlns:a="http://schemas.openxmlformats.org/drawingml/2006/main">
              <a:ext uri="{FF2B5EF4-FFF2-40B4-BE49-F238E27FC236}">
                <a16:creationId xmlns:a16="http://schemas.microsoft.com/office/drawing/2014/main" id="{F1FAC163-DD66-4855-949E-86D138615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800350"/>
            <a:ext cx="323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2" name="evidence-box-4">
            <a:extLst xmlns:a="http://schemas.openxmlformats.org/drawingml/2006/main">
              <a:ext uri="{FF2B5EF4-FFF2-40B4-BE49-F238E27FC236}">
                <a16:creationId xmlns:a16="http://schemas.microsoft.com/office/drawing/2014/main" id="{B7B06EA2-FCC4-410B-ACC6-7DE2356FA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247900"/>
            <a:ext cx="17526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F16"/>
          </a:solidFill>
          <a:ln xmlns:a="http://schemas.openxmlformats.org/drawingml/2006/main" w="9525">
            <a:solidFill>
              <a:srgbClr val="0B0F16"/>
            </a:solidFill>
            <a:prstDash val="solid"/>
          </a:ln>
        </p:spPr>
      </p:sp>
      <p:sp>
        <p:nvSpPr>
          <p:cNvPr id="23" name="evidence-label-4">
            <a:extLst xmlns:a="http://schemas.openxmlformats.org/drawingml/2006/main">
              <a:ext uri="{FF2B5EF4-FFF2-40B4-BE49-F238E27FC236}">
                <a16:creationId xmlns:a16="http://schemas.microsoft.com/office/drawing/2014/main" id="{084BBDF5-A28A-4973-8C27-3CD1A7316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47650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CI gate</a:t>
            </a:r>
          </a:p>
        </p:txBody>
      </p:sp>
      <p:sp>
        <p:nvSpPr>
          <p:cNvPr id="24" name="evidence-desc-4">
            <a:extLst xmlns:a="http://schemas.openxmlformats.org/drawingml/2006/main">
              <a:ext uri="{FF2B5EF4-FFF2-40B4-BE49-F238E27FC236}">
                <a16:creationId xmlns:a16="http://schemas.microsoft.com/office/drawing/2014/main" id="{BA18B01D-8753-4DC2-81D2-D2702F0E7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028950"/>
            <a:ext cx="1409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8C6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B8C6D8"/>
                </a:solidFill>
                <a:latin typeface="Microsoft YaHei"/>
                <a:ea typeface="Microsoft YaHei"/>
                <a:cs typeface="Microsoft YaHei"/>
              </a:rPr>
              <a:t>compatible / drift</a:t>
            </a:r>
          </a:p>
          <a:p xmlns:a="http://schemas.openxmlformats.org/drawingml/2006/main">
            <a:pPr algn="l">
              <a:defRPr sz="1275" b="0">
                <a:solidFill>
                  <a:srgbClr val="B8C6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B8C6D8"/>
                </a:solidFill>
                <a:latin typeface="Microsoft YaHei"/>
                <a:ea typeface="Microsoft YaHei"/>
                <a:cs typeface="Microsoft YaHei"/>
              </a:rPr>
              <a:t>exit code</a:t>
            </a:r>
          </a:p>
        </p:txBody>
      </p:sp>
      <p:sp>
        <p:nvSpPr>
          <p:cNvPr id="25" name="evidence-question">
            <a:extLst xmlns:a="http://schemas.openxmlformats.org/drawingml/2006/main">
              <a:ext uri="{FF2B5EF4-FFF2-40B4-BE49-F238E27FC236}">
                <a16:creationId xmlns:a16="http://schemas.microsoft.com/office/drawing/2014/main" id="{9C7E4352-D36E-40B6-A3B5-BFA7E72E2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05350"/>
            <a:ext cx="914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评审可以从最终答案反查到每一次工具调用和策略决定。</a:t>
            </a:r>
          </a:p>
        </p:txBody>
      </p:sp>
      <p:sp>
        <p:nvSpPr>
          <p:cNvPr id="26" name="evidence-sub">
            <a:extLst xmlns:a="http://schemas.openxmlformats.org/drawingml/2006/main">
              <a:ext uri="{FF2B5EF4-FFF2-40B4-BE49-F238E27FC236}">
                <a16:creationId xmlns:a16="http://schemas.microsoft.com/office/drawing/2014/main" id="{B7F45C93-0E31-4730-A818-007731871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952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这也是 Harness 与 prompt scorer 的根本差异：验证执行协议，而非只打分文本。</a:t>
            </a:r>
          </a:p>
        </p:txBody>
      </p:sp>
    </p:spTree>
    <p:extLst>
      <p:ext uri="{BB962C8B-B14F-4D97-AF65-F5344CB8AC3E}">
        <p14:creationId xmlns:p14="http://schemas.microsoft.com/office/powerpoint/2010/main" val="157771993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eyebrow-11">
            <a:extLst xmlns:a="http://schemas.openxmlformats.org/drawingml/2006/main">
              <a:ext uri="{FF2B5EF4-FFF2-40B4-BE49-F238E27FC236}">
                <a16:creationId xmlns:a16="http://schemas.microsoft.com/office/drawing/2014/main" id="{39C24A6D-40A1-4305-8D30-B7E256888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10 / COMMUNITY</a:t>
            </a:r>
          </a:p>
        </p:txBody>
      </p:sp>
      <p:sp>
        <p:nvSpPr>
          <p:cNvPr id="2" name="title-11">
            <a:extLst xmlns:a="http://schemas.openxmlformats.org/drawingml/2006/main">
              <a:ext uri="{FF2B5EF4-FFF2-40B4-BE49-F238E27FC236}">
                <a16:creationId xmlns:a16="http://schemas.microsoft.com/office/drawing/2014/main" id="{62DD87FC-A94E-4836-95D5-0084742A8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真实开发者信号如何变成需求、实现和回归测试</a:t>
            </a:r>
          </a:p>
        </p:txBody>
      </p:sp>
      <p:sp>
        <p:nvSpPr>
          <p:cNvPr id="3" name="rule-11">
            <a:extLst xmlns:a="http://schemas.openxmlformats.org/drawingml/2006/main">
              <a:ext uri="{FF2B5EF4-FFF2-40B4-BE49-F238E27FC236}">
                <a16:creationId xmlns:a16="http://schemas.microsoft.com/office/drawing/2014/main" id="{356BD359-F89C-4F3D-889F-EB8E8C158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11">
            <a:extLst xmlns:a="http://schemas.openxmlformats.org/drawingml/2006/main">
              <a:ext uri="{FF2B5EF4-FFF2-40B4-BE49-F238E27FC236}">
                <a16:creationId xmlns:a16="http://schemas.microsoft.com/office/drawing/2014/main" id="{9138E2FD-16F9-4539-9005-20843EA70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4191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3333"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5" name="footer-11">
            <a:extLst xmlns:a="http://schemas.openxmlformats.org/drawingml/2006/main">
              <a:ext uri="{FF2B5EF4-FFF2-40B4-BE49-F238E27FC236}">
                <a16:creationId xmlns:a16="http://schemas.microsoft.com/office/drawing/2014/main" id="{E86485FA-6901-407F-99D1-B3586E418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HarnessLab  |  Architecture review  |  2026-08-14</a:t>
            </a:r>
          </a:p>
        </p:txBody>
      </p:sp>
      <p:sp>
        <p:nvSpPr>
          <p:cNvPr id="6" name="community-head-72">
            <a:extLst xmlns:a="http://schemas.openxmlformats.org/drawingml/2006/main">
              <a:ext uri="{FF2B5EF4-FFF2-40B4-BE49-F238E27FC236}">
                <a16:creationId xmlns:a16="http://schemas.microsoft.com/office/drawing/2014/main" id="{512D6EAF-30BB-46B3-A24A-41159855A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信号</a:t>
            </a:r>
          </a:p>
        </p:txBody>
      </p:sp>
      <p:sp>
        <p:nvSpPr>
          <p:cNvPr id="7" name="community-head-290">
            <a:extLst xmlns:a="http://schemas.openxmlformats.org/drawingml/2006/main">
              <a:ext uri="{FF2B5EF4-FFF2-40B4-BE49-F238E27FC236}">
                <a16:creationId xmlns:a16="http://schemas.microsoft.com/office/drawing/2014/main" id="{5436E00E-154E-470F-B9EA-5C389B6B0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7526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需求</a:t>
            </a:r>
          </a:p>
        </p:txBody>
      </p:sp>
      <p:sp>
        <p:nvSpPr>
          <p:cNvPr id="8" name="community-head-612">
            <a:extLst xmlns:a="http://schemas.openxmlformats.org/drawingml/2006/main">
              <a:ext uri="{FF2B5EF4-FFF2-40B4-BE49-F238E27FC236}">
                <a16:creationId xmlns:a16="http://schemas.microsoft.com/office/drawing/2014/main" id="{253543D3-14F4-4779-ACAF-33B14A362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17526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实现</a:t>
            </a:r>
          </a:p>
        </p:txBody>
      </p:sp>
      <p:sp>
        <p:nvSpPr>
          <p:cNvPr id="9" name="community-head-936">
            <a:extLst xmlns:a="http://schemas.openxmlformats.org/drawingml/2006/main">
              <a:ext uri="{FF2B5EF4-FFF2-40B4-BE49-F238E27FC236}">
                <a16:creationId xmlns:a16="http://schemas.microsoft.com/office/drawing/2014/main" id="{D1876850-7600-4E8B-83DF-0D4C9AD6E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7526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验证</a:t>
            </a:r>
          </a:p>
        </p:txBody>
      </p:sp>
      <p:sp>
        <p:nvSpPr>
          <p:cNvPr id="10" name="community-rule-0">
            <a:extLst xmlns:a="http://schemas.openxmlformats.org/drawingml/2006/main">
              <a:ext uri="{FF2B5EF4-FFF2-40B4-BE49-F238E27FC236}">
                <a16:creationId xmlns:a16="http://schemas.microsoft.com/office/drawing/2014/main" id="{2EA97B81-3351-426B-A63F-BA21068EC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051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community-signal-0">
            <a:extLst xmlns:a="http://schemas.openxmlformats.org/drawingml/2006/main">
              <a:ext uri="{FF2B5EF4-FFF2-40B4-BE49-F238E27FC236}">
                <a16:creationId xmlns:a16="http://schemas.microsoft.com/office/drawing/2014/main" id="{7F4FAE18-AF62-41D0-983B-94F2521AC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Pi #550 / #803</a:t>
            </a:r>
          </a:p>
        </p:txBody>
      </p:sp>
      <p:sp>
        <p:nvSpPr>
          <p:cNvPr id="12" name="community-need-0">
            <a:extLst xmlns:a="http://schemas.openxmlformats.org/drawingml/2006/main">
              <a:ext uri="{FF2B5EF4-FFF2-40B4-BE49-F238E27FC236}">
                <a16:creationId xmlns:a16="http://schemas.microsoft.com/office/drawing/2014/main" id="{AE2FB0BA-381D-4966-B390-FE070741C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1526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大 session / compact</a:t>
            </a:r>
          </a:p>
        </p:txBody>
      </p:sp>
      <p:sp>
        <p:nvSpPr>
          <p:cNvPr id="13" name="community-impl-0">
            <a:extLst xmlns:a="http://schemas.openxmlformats.org/drawingml/2006/main">
              <a:ext uri="{FF2B5EF4-FFF2-40B4-BE49-F238E27FC236}">
                <a16:creationId xmlns:a16="http://schemas.microsoft.com/office/drawing/2014/main" id="{48C0ABE4-0D39-44D6-9AFA-D01B95A74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1526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ContextCompiler</a:t>
            </a:r>
          </a:p>
        </p:txBody>
      </p:sp>
      <p:sp>
        <p:nvSpPr>
          <p:cNvPr id="14" name="community-test-0">
            <a:extLst xmlns:a="http://schemas.openxmlformats.org/drawingml/2006/main">
              <a:ext uri="{FF2B5EF4-FFF2-40B4-BE49-F238E27FC236}">
                <a16:creationId xmlns:a16="http://schemas.microsoft.com/office/drawing/2014/main" id="{5E64E485-BDC9-404A-AB4E-0EDC5CFA2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15265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379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3795B"/>
                </a:solidFill>
                <a:latin typeface="Microsoft YaHei"/>
                <a:ea typeface="Microsoft YaHei"/>
                <a:cs typeface="Microsoft YaHei"/>
              </a:rPr>
              <a:t>memory gate</a:t>
            </a:r>
          </a:p>
        </p:txBody>
      </p:sp>
      <p:sp>
        <p:nvSpPr>
          <p:cNvPr id="15" name="community-rule-1">
            <a:extLst xmlns:a="http://schemas.openxmlformats.org/drawingml/2006/main">
              <a:ext uri="{FF2B5EF4-FFF2-40B4-BE49-F238E27FC236}">
                <a16:creationId xmlns:a16="http://schemas.microsoft.com/office/drawing/2014/main" id="{FEF4DB80-2E49-4C20-9E02-55A54A018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861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community-signal-1">
            <a:extLst xmlns:a="http://schemas.openxmlformats.org/drawingml/2006/main">
              <a:ext uri="{FF2B5EF4-FFF2-40B4-BE49-F238E27FC236}">
                <a16:creationId xmlns:a16="http://schemas.microsoft.com/office/drawing/2014/main" id="{2BF6B7EA-A47C-41EA-B8B3-BAC4A47D5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3370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Pi #2928 / #3214</a:t>
            </a:r>
          </a:p>
        </p:txBody>
      </p:sp>
      <p:sp>
        <p:nvSpPr>
          <p:cNvPr id="17" name="community-need-1">
            <a:extLst xmlns:a="http://schemas.openxmlformats.org/drawingml/2006/main">
              <a:ext uri="{FF2B5EF4-FFF2-40B4-BE49-F238E27FC236}">
                <a16:creationId xmlns:a16="http://schemas.microsoft.com/office/drawing/2014/main" id="{AA8B563D-0EB9-4B8C-BFDA-0B1077D3B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93370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MCP EPIPE / schema 噪声</a:t>
            </a:r>
          </a:p>
        </p:txBody>
      </p:sp>
      <p:sp>
        <p:nvSpPr>
          <p:cNvPr id="18" name="community-impl-1">
            <a:extLst xmlns:a="http://schemas.openxmlformats.org/drawingml/2006/main">
              <a:ext uri="{FF2B5EF4-FFF2-40B4-BE49-F238E27FC236}">
                <a16:creationId xmlns:a16="http://schemas.microsoft.com/office/drawing/2014/main" id="{543CAFA4-0AC2-43FB-B2F0-0706B1DA8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93370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start/close + normalize</a:t>
            </a:r>
          </a:p>
        </p:txBody>
      </p:sp>
      <p:sp>
        <p:nvSpPr>
          <p:cNvPr id="19" name="community-test-1">
            <a:extLst xmlns:a="http://schemas.openxmlformats.org/drawingml/2006/main">
              <a:ext uri="{FF2B5EF4-FFF2-40B4-BE49-F238E27FC236}">
                <a16:creationId xmlns:a16="http://schemas.microsoft.com/office/drawing/2014/main" id="{B9721C6F-DC39-4DF8-A5D7-1FD70F52C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93370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379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3795B"/>
                </a:solidFill>
                <a:latin typeface="Microsoft YaHei"/>
                <a:ea typeface="Microsoft YaHei"/>
                <a:cs typeface="Microsoft YaHei"/>
              </a:rPr>
              <a:t>runtime boundary tests</a:t>
            </a:r>
          </a:p>
        </p:txBody>
      </p:sp>
      <p:sp>
        <p:nvSpPr>
          <p:cNvPr id="20" name="community-rule-2">
            <a:extLst xmlns:a="http://schemas.openxmlformats.org/drawingml/2006/main">
              <a:ext uri="{FF2B5EF4-FFF2-40B4-BE49-F238E27FC236}">
                <a16:creationId xmlns:a16="http://schemas.microsoft.com/office/drawing/2014/main" id="{4D418131-AFF9-47F6-9253-9149BE46E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672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community-signal-2">
            <a:extLst xmlns:a="http://schemas.openxmlformats.org/drawingml/2006/main">
              <a:ext uri="{FF2B5EF4-FFF2-40B4-BE49-F238E27FC236}">
                <a16:creationId xmlns:a16="http://schemas.microsoft.com/office/drawing/2014/main" id="{881A1781-3F5B-4D9A-9EC2-1B97275F7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Pi #2714 / #3673</a:t>
            </a:r>
          </a:p>
        </p:txBody>
      </p:sp>
      <p:sp>
        <p:nvSpPr>
          <p:cNvPr id="22" name="community-need-2">
            <a:extLst xmlns:a="http://schemas.openxmlformats.org/drawingml/2006/main">
              <a:ext uri="{FF2B5EF4-FFF2-40B4-BE49-F238E27FC236}">
                <a16:creationId xmlns:a16="http://schemas.microsoft.com/office/drawing/2014/main" id="{887BBFC7-1378-47C6-B4FD-2F2B8AF23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7147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跨 session / 控制 API</a:t>
            </a:r>
          </a:p>
        </p:txBody>
      </p:sp>
      <p:sp>
        <p:nvSpPr>
          <p:cNvPr id="23" name="community-impl-2">
            <a:extLst xmlns:a="http://schemas.openxmlformats.org/drawingml/2006/main">
              <a:ext uri="{FF2B5EF4-FFF2-40B4-BE49-F238E27FC236}">
                <a16:creationId xmlns:a16="http://schemas.microsoft.com/office/drawing/2014/main" id="{A6709047-0EF2-4908-839A-60CF1E450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7147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SessionEventBus</a:t>
            </a:r>
          </a:p>
        </p:txBody>
      </p:sp>
      <p:sp>
        <p:nvSpPr>
          <p:cNvPr id="24" name="community-test-2">
            <a:extLst xmlns:a="http://schemas.openxmlformats.org/drawingml/2006/main">
              <a:ext uri="{FF2B5EF4-FFF2-40B4-BE49-F238E27FC236}">
                <a16:creationId xmlns:a16="http://schemas.microsoft.com/office/drawing/2014/main" id="{E6B9DBDF-A7FC-4312-B174-F1D4F7D13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71475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379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3795B"/>
                </a:solidFill>
                <a:latin typeface="Microsoft YaHei"/>
                <a:ea typeface="Microsoft YaHei"/>
                <a:cs typeface="Microsoft YaHei"/>
              </a:rPr>
              <a:t>replay + scope tests</a:t>
            </a:r>
          </a:p>
        </p:txBody>
      </p:sp>
      <p:sp>
        <p:nvSpPr>
          <p:cNvPr id="25" name="community-rule-3">
            <a:extLst xmlns:a="http://schemas.openxmlformats.org/drawingml/2006/main">
              <a:ext uri="{FF2B5EF4-FFF2-40B4-BE49-F238E27FC236}">
                <a16:creationId xmlns:a16="http://schemas.microsoft.com/office/drawing/2014/main" id="{A47CE3DC-7581-40EA-918C-2FC23DD6B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community-signal-3">
            <a:extLst xmlns:a="http://schemas.openxmlformats.org/drawingml/2006/main">
              <a:ext uri="{FF2B5EF4-FFF2-40B4-BE49-F238E27FC236}">
                <a16:creationId xmlns:a16="http://schemas.microsoft.com/office/drawing/2014/main" id="{87FC6016-D548-4BF4-B4E3-5F217CBB9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9580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Pi #2677 / #776</a:t>
            </a:r>
          </a:p>
        </p:txBody>
      </p:sp>
      <p:sp>
        <p:nvSpPr>
          <p:cNvPr id="27" name="community-need-3">
            <a:extLst xmlns:a="http://schemas.openxmlformats.org/drawingml/2006/main">
              <a:ext uri="{FF2B5EF4-FFF2-40B4-BE49-F238E27FC236}">
                <a16:creationId xmlns:a16="http://schemas.microsoft.com/office/drawing/2014/main" id="{34780600-C84F-4416-B1E3-D13A2FDBF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49580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扩展 teardown / discovery</a:t>
            </a:r>
          </a:p>
        </p:txBody>
      </p:sp>
      <p:sp>
        <p:nvSpPr>
          <p:cNvPr id="28" name="community-impl-3">
            <a:extLst xmlns:a="http://schemas.openxmlformats.org/drawingml/2006/main">
              <a:ext uri="{FF2B5EF4-FFF2-40B4-BE49-F238E27FC236}">
                <a16:creationId xmlns:a16="http://schemas.microsoft.com/office/drawing/2014/main" id="{A2A5DF64-A529-4920-A819-780157ABA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449580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ExtensionManager</a:t>
            </a:r>
          </a:p>
        </p:txBody>
      </p:sp>
      <p:sp>
        <p:nvSpPr>
          <p:cNvPr id="29" name="community-test-3">
            <a:extLst xmlns:a="http://schemas.openxmlformats.org/drawingml/2006/main">
              <a:ext uri="{FF2B5EF4-FFF2-40B4-BE49-F238E27FC236}">
                <a16:creationId xmlns:a16="http://schemas.microsoft.com/office/drawing/2014/main" id="{72748222-392C-4165-9464-DC07A3908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49580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379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3795B"/>
                </a:solidFill>
                <a:latin typeface="Microsoft YaHei"/>
                <a:ea typeface="Microsoft YaHei"/>
                <a:cs typeface="Microsoft YaHei"/>
              </a:rPr>
              <a:t>failure isolation tests</a:t>
            </a:r>
          </a:p>
        </p:txBody>
      </p:sp>
      <p:sp>
        <p:nvSpPr>
          <p:cNvPr id="30" name="community-foot">
            <a:extLst xmlns:a="http://schemas.openxmlformats.org/drawingml/2006/main">
              <a:ext uri="{FF2B5EF4-FFF2-40B4-BE49-F238E27FC236}">
                <a16:creationId xmlns:a16="http://schemas.microsoft.com/office/drawing/2014/main" id="{59F41E4F-9363-4E51-8909-013D136EA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67350"/>
            <a:ext cx="1009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证据矩阵是版本化资产：新增 issue / RFC，先进入 contract test，再进入实现。</a:t>
            </a:r>
          </a:p>
        </p:txBody>
      </p:sp>
    </p:spTree>
    <p:extLst>
      <p:ext uri="{BB962C8B-B14F-4D97-AF65-F5344CB8AC3E}">
        <p14:creationId xmlns:p14="http://schemas.microsoft.com/office/powerpoint/2010/main" val="88804762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eyebrow-12">
            <a:extLst xmlns:a="http://schemas.openxmlformats.org/drawingml/2006/main">
              <a:ext uri="{FF2B5EF4-FFF2-40B4-BE49-F238E27FC236}">
                <a16:creationId xmlns:a16="http://schemas.microsoft.com/office/drawing/2014/main" id="{70AF3EB9-1AE8-4405-B04D-A9DEED4B9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11 / PROVIDER BOUNDARY</a:t>
            </a:r>
          </a:p>
        </p:txBody>
      </p:sp>
      <p:sp>
        <p:nvSpPr>
          <p:cNvPr id="2" name="title-12">
            <a:extLst xmlns:a="http://schemas.openxmlformats.org/drawingml/2006/main">
              <a:ext uri="{FF2B5EF4-FFF2-40B4-BE49-F238E27FC236}">
                <a16:creationId xmlns:a16="http://schemas.microsoft.com/office/drawing/2014/main" id="{93AD4A44-DF3C-4481-A997-CC86BEB19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DeepSeek 支持的边界：公开 API 已接入，未公开协议不做猜测</a:t>
            </a:r>
          </a:p>
        </p:txBody>
      </p:sp>
      <p:sp>
        <p:nvSpPr>
          <p:cNvPr id="3" name="rule-12">
            <a:extLst xmlns:a="http://schemas.openxmlformats.org/drawingml/2006/main">
              <a:ext uri="{FF2B5EF4-FFF2-40B4-BE49-F238E27FC236}">
                <a16:creationId xmlns:a16="http://schemas.microsoft.com/office/drawing/2014/main" id="{EBF3F1B4-F81E-4D40-832B-AAA55CEAD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12">
            <a:extLst xmlns:a="http://schemas.openxmlformats.org/drawingml/2006/main">
              <a:ext uri="{FF2B5EF4-FFF2-40B4-BE49-F238E27FC236}">
                <a16:creationId xmlns:a16="http://schemas.microsoft.com/office/drawing/2014/main" id="{8232E739-16BE-4857-9B4E-252BFC0B2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4191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3333"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5" name="footer-12">
            <a:extLst xmlns:a="http://schemas.openxmlformats.org/drawingml/2006/main">
              <a:ext uri="{FF2B5EF4-FFF2-40B4-BE49-F238E27FC236}">
                <a16:creationId xmlns:a16="http://schemas.microsoft.com/office/drawing/2014/main" id="{005805B9-1556-47BB-8AB9-023638C68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HarnessLab  |  Architecture review  |  2026-08-14</a:t>
            </a:r>
          </a:p>
        </p:txBody>
      </p:sp>
      <p:sp>
        <p:nvSpPr>
          <p:cNvPr id="6" name="deepseek-public">
            <a:extLst xmlns:a="http://schemas.openxmlformats.org/drawingml/2006/main">
              <a:ext uri="{FF2B5EF4-FFF2-40B4-BE49-F238E27FC236}">
                <a16:creationId xmlns:a16="http://schemas.microsoft.com/office/drawing/2014/main" id="{A6169266-7C42-4459-BE07-8C86E3111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47815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7" name="deepseek-public-label">
            <a:extLst xmlns:a="http://schemas.openxmlformats.org/drawingml/2006/main">
              <a:ext uri="{FF2B5EF4-FFF2-40B4-BE49-F238E27FC236}">
                <a16:creationId xmlns:a16="http://schemas.microsoft.com/office/drawing/2014/main" id="{1E54B107-8A3B-4124-B99C-4DA714879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32410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SUPPORTED</a:t>
            </a:r>
          </a:p>
        </p:txBody>
      </p:sp>
      <p:sp>
        <p:nvSpPr>
          <p:cNvPr id="8" name="deepseek-public-title">
            <a:extLst xmlns:a="http://schemas.openxmlformats.org/drawingml/2006/main">
              <a:ext uri="{FF2B5EF4-FFF2-40B4-BE49-F238E27FC236}">
                <a16:creationId xmlns:a16="http://schemas.microsoft.com/office/drawing/2014/main" id="{D8308D71-06CE-471D-B295-DE5F30DD0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781300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DeepSeek public API</a:t>
            </a:r>
          </a:p>
        </p:txBody>
      </p:sp>
      <p:sp>
        <p:nvSpPr>
          <p:cNvPr id="9" name="deepseek-public-body">
            <a:extLst xmlns:a="http://schemas.openxmlformats.org/drawingml/2006/main">
              <a:ext uri="{FF2B5EF4-FFF2-40B4-BE49-F238E27FC236}">
                <a16:creationId xmlns:a16="http://schemas.microsoft.com/office/drawing/2014/main" id="{22B4E80D-7478-4E75-BA55-ECFA2ECD0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524250"/>
            <a:ext cx="3714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491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OpenAI-compatible chat completions</a:t>
            </a:r>
          </a:p>
          <a:p xmlns:a="http://schemas.openxmlformats.org/drawingml/2006/main">
            <a:pPr algn="l">
              <a:defRPr sz="142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adapter boundary</a:t>
            </a:r>
          </a:p>
          <a:p xmlns:a="http://schemas.openxmlformats.org/drawingml/2006/main">
            <a:pPr algn="l">
              <a:defRPr sz="142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credential from environment</a:t>
            </a:r>
          </a:p>
          <a:p xmlns:a="http://schemas.openxmlformats.org/drawingml/2006/main">
            <a:pPr algn="l">
              <a:defRPr sz="142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conformance fixture</a:t>
            </a:r>
          </a:p>
        </p:txBody>
      </p:sp>
      <p:sp>
        <p:nvSpPr>
          <p:cNvPr id="10" name="deepseek-unknown">
            <a:extLst xmlns:a="http://schemas.openxmlformats.org/drawingml/2006/main">
              <a:ext uri="{FF2B5EF4-FFF2-40B4-BE49-F238E27FC236}">
                <a16:creationId xmlns:a16="http://schemas.microsoft.com/office/drawing/2014/main" id="{2AEB898D-721E-49D4-80B0-B7244C85B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962150"/>
            <a:ext cx="53911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F16"/>
          </a:solidFill>
          <a:ln xmlns:a="http://schemas.openxmlformats.org/drawingml/2006/main" w="9525">
            <a:solidFill>
              <a:srgbClr val="0B0F16"/>
            </a:solidFill>
            <a:prstDash val="solid"/>
          </a:ln>
        </p:spPr>
      </p:sp>
      <p:sp>
        <p:nvSpPr>
          <p:cNvPr id="11" name="deepseek-unknown-label">
            <a:extLst xmlns:a="http://schemas.openxmlformats.org/drawingml/2006/main">
              <a:ext uri="{FF2B5EF4-FFF2-40B4-BE49-F238E27FC236}">
                <a16:creationId xmlns:a16="http://schemas.microsoft.com/office/drawing/2014/main" id="{C0401AEC-6EA4-4941-AC00-4F133595F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32410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9A8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9A8D4"/>
                </a:solidFill>
                <a:latin typeface="Microsoft YaHei"/>
                <a:ea typeface="Microsoft YaHei"/>
                <a:cs typeface="Microsoft YaHei"/>
              </a:rPr>
              <a:t>UNPROVEN</a:t>
            </a:r>
          </a:p>
        </p:txBody>
      </p:sp>
      <p:sp>
        <p:nvSpPr>
          <p:cNvPr id="12" name="deepseek-unknown-title">
            <a:extLst xmlns:a="http://schemas.openxmlformats.org/drawingml/2006/main">
              <a:ext uri="{FF2B5EF4-FFF2-40B4-BE49-F238E27FC236}">
                <a16:creationId xmlns:a16="http://schemas.microsoft.com/office/drawing/2014/main" id="{B3B71E14-E294-4A88-8F14-E26FEFBE0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781300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1436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Native DeepSeek Harness wire protocol</a:t>
            </a:r>
          </a:p>
        </p:txBody>
      </p:sp>
      <p:sp>
        <p:nvSpPr>
          <p:cNvPr id="13" name="deepseek-unknown-body">
            <a:extLst xmlns:a="http://schemas.openxmlformats.org/drawingml/2006/main">
              <a:ext uri="{FF2B5EF4-FFF2-40B4-BE49-F238E27FC236}">
                <a16:creationId xmlns:a16="http://schemas.microsoft.com/office/drawing/2014/main" id="{E5C08FCE-C5C7-4CE2-9BAD-904B7AD43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524250"/>
            <a:ext cx="4191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B8C6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B8C6D8"/>
                </a:solidFill>
                <a:latin typeface="Microsoft YaHei"/>
                <a:ea typeface="Microsoft YaHei"/>
                <a:cs typeface="Microsoft YaHei"/>
              </a:rPr>
              <a:t>待官方 capability document / fixture</a:t>
            </a:r>
          </a:p>
          <a:p xmlns:a="http://schemas.openxmlformats.org/drawingml/2006/main">
            <a:pPr algn="l">
              <a:defRPr sz="1425" b="0">
                <a:solidFill>
                  <a:srgbClr val="B8C6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B8C6D8"/>
                </a:solidFill>
                <a:latin typeface="Microsoft YaHei"/>
                <a:ea typeface="Microsoft YaHei"/>
                <a:cs typeface="Microsoft YaHei"/>
              </a:rPr>
              <a:t>再做协议映射、泛化契约测试与兼容性声明。</a:t>
            </a:r>
          </a:p>
        </p:txBody>
      </p:sp>
      <p:sp>
        <p:nvSpPr>
          <p:cNvPr id="14" name="deepseek-rule">
            <a:extLst xmlns:a="http://schemas.openxmlformats.org/drawingml/2006/main">
              <a:ext uri="{FF2B5EF4-FFF2-40B4-BE49-F238E27FC236}">
                <a16:creationId xmlns:a16="http://schemas.microsoft.com/office/drawing/2014/main" id="{A3635C08-1515-4819-98CC-37155A2DB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14950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Architecture review 的关键不是“声称支持更多”，而是清楚标注证据边界。</a:t>
            </a:r>
          </a:p>
        </p:txBody>
      </p:sp>
    </p:spTree>
    <p:extLst>
      <p:ext uri="{BB962C8B-B14F-4D97-AF65-F5344CB8AC3E}">
        <p14:creationId xmlns:p14="http://schemas.microsoft.com/office/powerpoint/2010/main" val="62979241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eyebrow-13">
            <a:extLst xmlns:a="http://schemas.openxmlformats.org/drawingml/2006/main">
              <a:ext uri="{FF2B5EF4-FFF2-40B4-BE49-F238E27FC236}">
                <a16:creationId xmlns:a16="http://schemas.microsoft.com/office/drawing/2014/main" id="{47D5043D-9766-48A8-9459-4FBD7099A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12 / QUALITY</a:t>
            </a:r>
          </a:p>
        </p:txBody>
      </p:sp>
      <p:sp>
        <p:nvSpPr>
          <p:cNvPr id="2" name="title-13">
            <a:extLst xmlns:a="http://schemas.openxmlformats.org/drawingml/2006/main">
              <a:ext uri="{FF2B5EF4-FFF2-40B4-BE49-F238E27FC236}">
                <a16:creationId xmlns:a16="http://schemas.microsoft.com/office/drawing/2014/main" id="{E1EAB69D-F781-4FA9-96EC-DE0FC1CE5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发布门禁：可重复、可审计、可失败</a:t>
            </a:r>
          </a:p>
        </p:txBody>
      </p:sp>
      <p:sp>
        <p:nvSpPr>
          <p:cNvPr id="3" name="rule-13">
            <a:extLst xmlns:a="http://schemas.openxmlformats.org/drawingml/2006/main">
              <a:ext uri="{FF2B5EF4-FFF2-40B4-BE49-F238E27FC236}">
                <a16:creationId xmlns:a16="http://schemas.microsoft.com/office/drawing/2014/main" id="{D62CCA53-3848-43B3-AE46-F2F82562B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13">
            <a:extLst xmlns:a="http://schemas.openxmlformats.org/drawingml/2006/main">
              <a:ext uri="{FF2B5EF4-FFF2-40B4-BE49-F238E27FC236}">
                <a16:creationId xmlns:a16="http://schemas.microsoft.com/office/drawing/2014/main" id="{1E6C3E37-5F37-4BE7-959C-F414B00D5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4191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3333"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5" name="footer-13">
            <a:extLst xmlns:a="http://schemas.openxmlformats.org/drawingml/2006/main">
              <a:ext uri="{FF2B5EF4-FFF2-40B4-BE49-F238E27FC236}">
                <a16:creationId xmlns:a16="http://schemas.microsoft.com/office/drawing/2014/main" id="{BEE918AE-D408-4BFE-9D0A-C82DB4889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HarnessLab  |  Architecture review  |  2026-08-14</a:t>
            </a:r>
          </a:p>
        </p:txBody>
      </p:sp>
      <p:sp>
        <p:nvSpPr>
          <p:cNvPr id="6" name="quality-m1-value">
            <a:extLst xmlns:a="http://schemas.openxmlformats.org/drawingml/2006/main">
              <a:ext uri="{FF2B5EF4-FFF2-40B4-BE49-F238E27FC236}">
                <a16:creationId xmlns:a16="http://schemas.microsoft.com/office/drawing/2014/main" id="{A7F239A8-F54B-44BD-80EC-3C6A30D97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190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53</a:t>
            </a:r>
          </a:p>
        </p:txBody>
      </p:sp>
      <p:sp>
        <p:nvSpPr>
          <p:cNvPr id="7" name="quality-m1-label">
            <a:extLst xmlns:a="http://schemas.openxmlformats.org/drawingml/2006/main">
              <a:ext uri="{FF2B5EF4-FFF2-40B4-BE49-F238E27FC236}">
                <a16:creationId xmlns:a16="http://schemas.microsoft.com/office/drawing/2014/main" id="{661E52DA-D34A-49D1-8D11-DC166141C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2890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pytest tests</a:t>
            </a:r>
          </a:p>
        </p:txBody>
      </p:sp>
      <p:sp>
        <p:nvSpPr>
          <p:cNvPr id="8" name="quality-m2-value">
            <a:extLst xmlns:a="http://schemas.openxmlformats.org/drawingml/2006/main">
              <a:ext uri="{FF2B5EF4-FFF2-40B4-BE49-F238E27FC236}">
                <a16:creationId xmlns:a16="http://schemas.microsoft.com/office/drawing/2014/main" id="{E2AFF27C-7FAB-450B-A595-932417D7A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924050"/>
            <a:ext cx="209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1379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00" b="1">
                <a:solidFill>
                  <a:srgbClr val="13795B"/>
                </a:solidFill>
                <a:latin typeface="Microsoft YaHei"/>
                <a:ea typeface="Microsoft YaHei"/>
                <a:cs typeface="Microsoft YaHei"/>
              </a:rPr>
              <a:t>9/9</a:t>
            </a:r>
          </a:p>
        </p:txBody>
      </p:sp>
      <p:sp>
        <p:nvSpPr>
          <p:cNvPr id="9" name="quality-m2-label">
            <a:extLst xmlns:a="http://schemas.openxmlformats.org/drawingml/2006/main">
              <a:ext uri="{FF2B5EF4-FFF2-40B4-BE49-F238E27FC236}">
                <a16:creationId xmlns:a16="http://schemas.microsoft.com/office/drawing/2014/main" id="{4B86E9DC-D674-41AA-9F94-E7BE89BC7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6289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Agentic evals</a:t>
            </a:r>
          </a:p>
        </p:txBody>
      </p:sp>
      <p:sp>
        <p:nvSpPr>
          <p:cNvPr id="10" name="quality-m3-value">
            <a:extLst xmlns:a="http://schemas.openxmlformats.org/drawingml/2006/main">
              <a:ext uri="{FF2B5EF4-FFF2-40B4-BE49-F238E27FC236}">
                <a16:creationId xmlns:a16="http://schemas.microsoft.com/office/drawing/2014/main" id="{E1E76B88-8C17-46D7-AECD-E371CCBA4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924050"/>
            <a:ext cx="228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0E74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00" b="1">
                <a:solidFill>
                  <a:srgbClr val="0E7490"/>
                </a:solidFill>
                <a:latin typeface="Microsoft YaHei"/>
                <a:ea typeface="Microsoft YaHei"/>
                <a:cs typeface="Microsoft YaHei"/>
              </a:rPr>
              <a:t>10/10</a:t>
            </a:r>
          </a:p>
        </p:txBody>
      </p:sp>
      <p:sp>
        <p:nvSpPr>
          <p:cNvPr id="11" name="quality-m3-label">
            <a:extLst xmlns:a="http://schemas.openxmlformats.org/drawingml/2006/main">
              <a:ext uri="{FF2B5EF4-FFF2-40B4-BE49-F238E27FC236}">
                <a16:creationId xmlns:a16="http://schemas.microsoft.com/office/drawing/2014/main" id="{61FF54D6-8E06-4D9E-9F01-418B3D057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6289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Trace conformance</a:t>
            </a:r>
          </a:p>
        </p:txBody>
      </p:sp>
      <p:sp>
        <p:nvSpPr>
          <p:cNvPr id="12" name="quality-m4-value">
            <a:extLst xmlns:a="http://schemas.openxmlformats.org/drawingml/2006/main">
              <a:ext uri="{FF2B5EF4-FFF2-40B4-BE49-F238E27FC236}">
                <a16:creationId xmlns:a16="http://schemas.microsoft.com/office/drawing/2014/main" id="{D6C30035-EFE8-4AA7-816A-A514AB373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924050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0</a:t>
            </a:r>
          </a:p>
        </p:txBody>
      </p:sp>
      <p:sp>
        <p:nvSpPr>
          <p:cNvPr id="13" name="quality-m4-label">
            <a:extLst xmlns:a="http://schemas.openxmlformats.org/drawingml/2006/main">
              <a:ext uri="{FF2B5EF4-FFF2-40B4-BE49-F238E27FC236}">
                <a16:creationId xmlns:a16="http://schemas.microsoft.com/office/drawing/2014/main" id="{EEC7C9A8-D248-481C-869F-6E25FA236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6289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provider credentials for demo</a:t>
            </a:r>
          </a:p>
        </p:txBody>
      </p:sp>
      <p:sp>
        <p:nvSpPr>
          <p:cNvPr id="14" name="quality-rule">
            <a:extLst xmlns:a="http://schemas.openxmlformats.org/drawingml/2006/main">
              <a:ext uri="{FF2B5EF4-FFF2-40B4-BE49-F238E27FC236}">
                <a16:creationId xmlns:a16="http://schemas.microsoft.com/office/drawing/2014/main" id="{D4B8B01B-9EFF-4587-8A11-2127FB069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814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quality-b-0-mark">
            <a:extLst xmlns:a="http://schemas.openxmlformats.org/drawingml/2006/main">
              <a:ext uri="{FF2B5EF4-FFF2-40B4-BE49-F238E27FC236}">
                <a16:creationId xmlns:a16="http://schemas.microsoft.com/office/drawing/2014/main" id="{2C7E6235-1964-434C-9506-8C4ECBAEA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148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quality-b-0">
            <a:extLst xmlns:a="http://schemas.openxmlformats.org/drawingml/2006/main">
              <a:ext uri="{FF2B5EF4-FFF2-40B4-BE49-F238E27FC236}">
                <a16:creationId xmlns:a16="http://schemas.microsoft.com/office/drawing/2014/main" id="{E9C0BF70-8546-4E64-B71A-A3FCC1932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057650"/>
            <a:ext cx="9582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Contract tests pin lifecycle, policy, tool correlation, and terminal semantics.</a:t>
            </a:r>
          </a:p>
        </p:txBody>
      </p:sp>
      <p:sp>
        <p:nvSpPr>
          <p:cNvPr id="17" name="quality-b-1-mark">
            <a:extLst xmlns:a="http://schemas.openxmlformats.org/drawingml/2006/main">
              <a:ext uri="{FF2B5EF4-FFF2-40B4-BE49-F238E27FC236}">
                <a16:creationId xmlns:a16="http://schemas.microsoft.com/office/drawing/2014/main" id="{3DB7687B-ABB0-4C81-9378-E39193273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720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49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quality-b-1">
            <a:extLst xmlns:a="http://schemas.openxmlformats.org/drawingml/2006/main">
              <a:ext uri="{FF2B5EF4-FFF2-40B4-BE49-F238E27FC236}">
                <a16:creationId xmlns:a16="http://schemas.microsoft.com/office/drawing/2014/main" id="{FAA8053F-52F6-4F6F-B008-6CBF2D654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514850"/>
            <a:ext cx="9582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Failure injection covers transient outage, fallback, canary failure, injection, and budget.</a:t>
            </a:r>
          </a:p>
        </p:txBody>
      </p:sp>
      <p:sp>
        <p:nvSpPr>
          <p:cNvPr id="19" name="quality-b-2-mark">
            <a:extLst xmlns:a="http://schemas.openxmlformats.org/drawingml/2006/main">
              <a:ext uri="{FF2B5EF4-FFF2-40B4-BE49-F238E27FC236}">
                <a16:creationId xmlns:a16="http://schemas.microsoft.com/office/drawing/2014/main" id="{AEBEDD2C-89E0-4E9E-82BF-B4A4FF532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29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79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quality-b-2">
            <a:extLst xmlns:a="http://schemas.openxmlformats.org/drawingml/2006/main">
              <a:ext uri="{FF2B5EF4-FFF2-40B4-BE49-F238E27FC236}">
                <a16:creationId xmlns:a16="http://schemas.microsoft.com/office/drawing/2014/main" id="{7509932D-583C-4A84-BA2A-9B0510A3A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972050"/>
            <a:ext cx="9582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Artifacts redact raw context and expose stable fingerprints for CI diffing.</a:t>
            </a:r>
          </a:p>
        </p:txBody>
      </p:sp>
      <p:sp>
        <p:nvSpPr>
          <p:cNvPr id="21" name="quality-b-3-mark">
            <a:extLst xmlns:a="http://schemas.openxmlformats.org/drawingml/2006/main">
              <a:ext uri="{FF2B5EF4-FFF2-40B4-BE49-F238E27FC236}">
                <a16:creationId xmlns:a16="http://schemas.microsoft.com/office/drawing/2014/main" id="{5B9FC37A-242D-4015-B255-1698EBDBD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4864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quality-b-3">
            <a:extLst xmlns:a="http://schemas.openxmlformats.org/drawingml/2006/main">
              <a:ext uri="{FF2B5EF4-FFF2-40B4-BE49-F238E27FC236}">
                <a16:creationId xmlns:a16="http://schemas.microsoft.com/office/drawing/2014/main" id="{87304AB7-81C9-43D3-84E8-BE4A95EC2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429250"/>
            <a:ext cx="9582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Operations docs define shutdown, recovery, observability, and incident response.</a:t>
            </a:r>
          </a:p>
        </p:txBody>
      </p:sp>
    </p:spTree>
    <p:extLst>
      <p:ext uri="{BB962C8B-B14F-4D97-AF65-F5344CB8AC3E}">
        <p14:creationId xmlns:p14="http://schemas.microsoft.com/office/powerpoint/2010/main" val="191262406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eyebrow-14">
            <a:extLst xmlns:a="http://schemas.openxmlformats.org/drawingml/2006/main">
              <a:ext uri="{FF2B5EF4-FFF2-40B4-BE49-F238E27FC236}">
                <a16:creationId xmlns:a16="http://schemas.microsoft.com/office/drawing/2014/main" id="{4F73E39B-7B92-4899-A2AA-70CC6637E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13 / SCALE PLAN</a:t>
            </a:r>
          </a:p>
        </p:txBody>
      </p:sp>
      <p:sp>
        <p:nvSpPr>
          <p:cNvPr id="2" name="title-14">
            <a:extLst xmlns:a="http://schemas.openxmlformats.org/drawingml/2006/main">
              <a:ext uri="{FF2B5EF4-FFF2-40B4-BE49-F238E27FC236}">
                <a16:creationId xmlns:a16="http://schemas.microsoft.com/office/drawing/2014/main" id="{7DB87FDB-BE16-49BB-A936-B3FA7E462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200k 行不是质量指标：用真实边界把系统扩成可维护的平台</a:t>
            </a:r>
          </a:p>
        </p:txBody>
      </p:sp>
      <p:sp>
        <p:nvSpPr>
          <p:cNvPr id="3" name="rule-14">
            <a:extLst xmlns:a="http://schemas.openxmlformats.org/drawingml/2006/main">
              <a:ext uri="{FF2B5EF4-FFF2-40B4-BE49-F238E27FC236}">
                <a16:creationId xmlns:a16="http://schemas.microsoft.com/office/drawing/2014/main" id="{41867E9A-7429-4064-9278-1AEF84280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14">
            <a:extLst xmlns:a="http://schemas.openxmlformats.org/drawingml/2006/main">
              <a:ext uri="{FF2B5EF4-FFF2-40B4-BE49-F238E27FC236}">
                <a16:creationId xmlns:a16="http://schemas.microsoft.com/office/drawing/2014/main" id="{6C4555AD-5F76-4D3E-B226-1EF55657A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4191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3333"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5" name="footer-14">
            <a:extLst xmlns:a="http://schemas.openxmlformats.org/drawingml/2006/main">
              <a:ext uri="{FF2B5EF4-FFF2-40B4-BE49-F238E27FC236}">
                <a16:creationId xmlns:a16="http://schemas.microsoft.com/office/drawing/2014/main" id="{A98E7FA2-6EB8-43A9-B813-FBC219C3B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HarnessLab  |  Architecture review  |  2026-08-14</a:t>
            </a:r>
          </a:p>
        </p:txBody>
      </p:sp>
      <p:sp>
        <p:nvSpPr>
          <p:cNvPr id="6" name="scale-current">
            <a:extLst xmlns:a="http://schemas.openxmlformats.org/drawingml/2006/main">
              <a:ext uri="{FF2B5EF4-FFF2-40B4-BE49-F238E27FC236}">
                <a16:creationId xmlns:a16="http://schemas.microsoft.com/office/drawing/2014/main" id="{3FF89076-1CD4-4720-A274-188DE833E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当前基线</a:t>
            </a:r>
          </a:p>
        </p:txBody>
      </p:sp>
      <p:sp>
        <p:nvSpPr>
          <p:cNvPr id="7" name="scale-current-number">
            <a:extLst xmlns:a="http://schemas.openxmlformats.org/drawingml/2006/main">
              <a:ext uri="{FF2B5EF4-FFF2-40B4-BE49-F238E27FC236}">
                <a16:creationId xmlns:a16="http://schemas.microsoft.com/office/drawing/2014/main" id="{FCF5675F-2D39-48AB-9621-29F1E57DD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05050"/>
            <a:ext cx="285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~8.3k</a:t>
            </a:r>
          </a:p>
        </p:txBody>
      </p:sp>
      <p:sp>
        <p:nvSpPr>
          <p:cNvPr id="8" name="scale-current-desc">
            <a:extLst xmlns:a="http://schemas.openxmlformats.org/drawingml/2006/main">
              <a:ext uri="{FF2B5EF4-FFF2-40B4-BE49-F238E27FC236}">
                <a16:creationId xmlns:a16="http://schemas.microsoft.com/office/drawing/2014/main" id="{68756669-9328-41DD-A462-3A941F173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62300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代码行（src / tests / examples）</a:t>
            </a:r>
          </a:p>
          <a:p xmlns:a="http://schemas.openxmlformats.org/drawingml/2006/main">
            <a:pPr algn="l">
              <a:defRPr sz="13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另有文档与 workbench 资产</a:t>
            </a:r>
          </a:p>
        </p:txBody>
      </p:sp>
      <p:sp>
        <p:nvSpPr>
          <p:cNvPr id="9" name="scale-roadmap">
            <a:extLst xmlns:a="http://schemas.openxmlformats.org/drawingml/2006/main">
              <a:ext uri="{FF2B5EF4-FFF2-40B4-BE49-F238E27FC236}">
                <a16:creationId xmlns:a16="http://schemas.microsoft.com/office/drawing/2014/main" id="{7710FC14-8772-4249-931C-ED1F1B74D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8859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379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3795B"/>
                </a:solidFill>
                <a:latin typeface="Microsoft YaHei"/>
                <a:ea typeface="Microsoft YaHei"/>
                <a:cs typeface="Microsoft YaHei"/>
              </a:rPr>
              <a:t>真实扩展包</a:t>
            </a:r>
          </a:p>
        </p:txBody>
      </p:sp>
      <p:sp>
        <p:nvSpPr>
          <p:cNvPr id="10" name="scale-label-0">
            <a:extLst xmlns:a="http://schemas.openxmlformats.org/drawingml/2006/main">
              <a:ext uri="{FF2B5EF4-FFF2-40B4-BE49-F238E27FC236}">
                <a16:creationId xmlns:a16="http://schemas.microsoft.com/office/drawing/2014/main" id="{99C0BE45-2BD3-40AC-8065-839A9E82F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3050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Gateway</a:t>
            </a:r>
          </a:p>
        </p:txBody>
      </p:sp>
      <p:sp>
        <p:nvSpPr>
          <p:cNvPr id="11" name="scale-desc-0">
            <a:extLst xmlns:a="http://schemas.openxmlformats.org/drawingml/2006/main">
              <a:ext uri="{FF2B5EF4-FFF2-40B4-BE49-F238E27FC236}">
                <a16:creationId xmlns:a16="http://schemas.microsoft.com/office/drawing/2014/main" id="{82EC4ACB-83A6-478E-A1E6-7D52C6BD5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050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MCP registry / health / egress</a:t>
            </a:r>
          </a:p>
        </p:txBody>
      </p:sp>
      <p:sp>
        <p:nvSpPr>
          <p:cNvPr id="12" name="scale-line-0">
            <a:extLst xmlns:a="http://schemas.openxmlformats.org/drawingml/2006/main">
              <a:ext uri="{FF2B5EF4-FFF2-40B4-BE49-F238E27FC236}">
                <a16:creationId xmlns:a16="http://schemas.microsoft.com/office/drawing/2014/main" id="{969AD460-6CF2-483F-90D6-BD5AD2441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686050"/>
            <a:ext cx="647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cale-label-1">
            <a:extLst xmlns:a="http://schemas.openxmlformats.org/drawingml/2006/main">
              <a:ext uri="{FF2B5EF4-FFF2-40B4-BE49-F238E27FC236}">
                <a16:creationId xmlns:a16="http://schemas.microsoft.com/office/drawing/2014/main" id="{C6651C1A-CB3D-456F-99B5-A4DF9E68B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85750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Runtime</a:t>
            </a:r>
          </a:p>
        </p:txBody>
      </p:sp>
      <p:sp>
        <p:nvSpPr>
          <p:cNvPr id="14" name="scale-desc-1">
            <a:extLst xmlns:a="http://schemas.openxmlformats.org/drawingml/2006/main">
              <a:ext uri="{FF2B5EF4-FFF2-40B4-BE49-F238E27FC236}">
                <a16:creationId xmlns:a16="http://schemas.microsoft.com/office/drawing/2014/main" id="{3FC766DA-6919-4419-B050-B2C28CBE4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85750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Pi-compatible session + steering</a:t>
            </a:r>
          </a:p>
        </p:txBody>
      </p:sp>
      <p:sp>
        <p:nvSpPr>
          <p:cNvPr id="15" name="scale-line-1">
            <a:extLst xmlns:a="http://schemas.openxmlformats.org/drawingml/2006/main">
              <a:ext uri="{FF2B5EF4-FFF2-40B4-BE49-F238E27FC236}">
                <a16:creationId xmlns:a16="http://schemas.microsoft.com/office/drawing/2014/main" id="{BC7C20F9-7895-4490-A5EA-710625191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238500"/>
            <a:ext cx="647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scale-label-2">
            <a:extLst xmlns:a="http://schemas.openxmlformats.org/drawingml/2006/main">
              <a:ext uri="{FF2B5EF4-FFF2-40B4-BE49-F238E27FC236}">
                <a16:creationId xmlns:a16="http://schemas.microsoft.com/office/drawing/2014/main" id="{478FFF19-174E-43E6-9936-FB4EB3A35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4099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Storage</a:t>
            </a:r>
          </a:p>
        </p:txBody>
      </p:sp>
      <p:sp>
        <p:nvSpPr>
          <p:cNvPr id="17" name="scale-desc-2">
            <a:extLst xmlns:a="http://schemas.openxmlformats.org/drawingml/2006/main">
              <a:ext uri="{FF2B5EF4-FFF2-40B4-BE49-F238E27FC236}">
                <a16:creationId xmlns:a16="http://schemas.microsoft.com/office/drawing/2014/main" id="{82D34418-8957-4227-BB62-AE6472732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4099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Postgres / Redis / vector adapters</a:t>
            </a:r>
          </a:p>
        </p:txBody>
      </p:sp>
      <p:sp>
        <p:nvSpPr>
          <p:cNvPr id="18" name="scale-line-2">
            <a:extLst xmlns:a="http://schemas.openxmlformats.org/drawingml/2006/main">
              <a:ext uri="{FF2B5EF4-FFF2-40B4-BE49-F238E27FC236}">
                <a16:creationId xmlns:a16="http://schemas.microsoft.com/office/drawing/2014/main" id="{2420209F-88DF-4256-A56A-3AE630E78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790950"/>
            <a:ext cx="647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scale-label-3">
            <a:extLst xmlns:a="http://schemas.openxmlformats.org/drawingml/2006/main">
              <a:ext uri="{FF2B5EF4-FFF2-40B4-BE49-F238E27FC236}">
                <a16:creationId xmlns:a16="http://schemas.microsoft.com/office/drawing/2014/main" id="{D15BD5FB-82AD-40C9-8D6B-4BF1167BF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96240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Eval</a:t>
            </a:r>
          </a:p>
        </p:txBody>
      </p:sp>
      <p:sp>
        <p:nvSpPr>
          <p:cNvPr id="20" name="scale-desc-3">
            <a:extLst xmlns:a="http://schemas.openxmlformats.org/drawingml/2006/main">
              <a:ext uri="{FF2B5EF4-FFF2-40B4-BE49-F238E27FC236}">
                <a16:creationId xmlns:a16="http://schemas.microsoft.com/office/drawing/2014/main" id="{B1FADA24-773F-4CD6-A01F-997B541DE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96240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replay corpus / provider matrix</a:t>
            </a:r>
          </a:p>
        </p:txBody>
      </p:sp>
      <p:sp>
        <p:nvSpPr>
          <p:cNvPr id="21" name="scale-line-3">
            <a:extLst xmlns:a="http://schemas.openxmlformats.org/drawingml/2006/main">
              <a:ext uri="{FF2B5EF4-FFF2-40B4-BE49-F238E27FC236}">
                <a16:creationId xmlns:a16="http://schemas.microsoft.com/office/drawing/2014/main" id="{C612421A-5D8D-48EF-8791-F37385FDD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343400"/>
            <a:ext cx="647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scale-label-4">
            <a:extLst xmlns:a="http://schemas.openxmlformats.org/drawingml/2006/main">
              <a:ext uri="{FF2B5EF4-FFF2-40B4-BE49-F238E27FC236}">
                <a16:creationId xmlns:a16="http://schemas.microsoft.com/office/drawing/2014/main" id="{40A342E5-8431-4EBA-BB12-122BDD84C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5148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Ops</a:t>
            </a:r>
          </a:p>
        </p:txBody>
      </p:sp>
      <p:sp>
        <p:nvSpPr>
          <p:cNvPr id="23" name="scale-desc-4">
            <a:extLst xmlns:a="http://schemas.openxmlformats.org/drawingml/2006/main">
              <a:ext uri="{FF2B5EF4-FFF2-40B4-BE49-F238E27FC236}">
                <a16:creationId xmlns:a16="http://schemas.microsoft.com/office/drawing/2014/main" id="{745D2FC7-9CF9-4CE2-9718-0BB5238CC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5148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multi-tenant / RBAC / metrics / SLO</a:t>
            </a:r>
          </a:p>
        </p:txBody>
      </p:sp>
      <p:sp>
        <p:nvSpPr>
          <p:cNvPr id="24" name="scale-line-4">
            <a:extLst xmlns:a="http://schemas.openxmlformats.org/drawingml/2006/main">
              <a:ext uri="{FF2B5EF4-FFF2-40B4-BE49-F238E27FC236}">
                <a16:creationId xmlns:a16="http://schemas.microsoft.com/office/drawing/2014/main" id="{BD46C170-0551-4A82-86D2-936FD072B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895850"/>
            <a:ext cx="647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scale-callout">
            <a:extLst xmlns:a="http://schemas.openxmlformats.org/drawingml/2006/main">
              <a:ext uri="{FF2B5EF4-FFF2-40B4-BE49-F238E27FC236}">
                <a16:creationId xmlns:a16="http://schemas.microsoft.com/office/drawing/2014/main" id="{19D8639C-BE3E-473E-90D2-A11CE8312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53100"/>
            <a:ext cx="10820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ED7AA"/>
            </a:solidFill>
            <a:prstDash val="solid"/>
          </a:ln>
        </p:spPr>
      </p:sp>
      <p:sp>
        <p:nvSpPr>
          <p:cNvPr id="26" name="scale-callout-text">
            <a:extLst xmlns:a="http://schemas.openxmlformats.org/drawingml/2006/main">
              <a:ext uri="{FF2B5EF4-FFF2-40B4-BE49-F238E27FC236}">
                <a16:creationId xmlns:a16="http://schemas.microsoft.com/office/drawing/2014/main" id="{E1834630-C427-4DE6-81E9-9CF0C8E72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857875"/>
            <a:ext cx="1028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039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承诺：每个新增 package 都必须有边界、契约、故障测试和运行指标；不以重复代码填充 200k。</a:t>
            </a:r>
          </a:p>
        </p:txBody>
      </p:sp>
    </p:spTree>
    <p:extLst>
      <p:ext uri="{BB962C8B-B14F-4D97-AF65-F5344CB8AC3E}">
        <p14:creationId xmlns:p14="http://schemas.microsoft.com/office/powerpoint/2010/main" val="48205685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eyebrow-15">
            <a:extLst xmlns:a="http://schemas.openxmlformats.org/drawingml/2006/main">
              <a:ext uri="{FF2B5EF4-FFF2-40B4-BE49-F238E27FC236}">
                <a16:creationId xmlns:a16="http://schemas.microsoft.com/office/drawing/2014/main" id="{951C8781-F625-41F5-A39E-45F96F34A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14 / DECISION</a:t>
            </a:r>
          </a:p>
        </p:txBody>
      </p:sp>
      <p:sp>
        <p:nvSpPr>
          <p:cNvPr id="2" name="title-15">
            <a:extLst xmlns:a="http://schemas.openxmlformats.org/drawingml/2006/main">
              <a:ext uri="{FF2B5EF4-FFF2-40B4-BE49-F238E27FC236}">
                <a16:creationId xmlns:a16="http://schemas.microsoft.com/office/drawing/2014/main" id="{5D3B891E-180D-431E-BE69-4AC5A7AB3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请求评审的三项决策</a:t>
            </a:r>
          </a:p>
        </p:txBody>
      </p:sp>
      <p:sp>
        <p:nvSpPr>
          <p:cNvPr id="3" name="rule-15">
            <a:extLst xmlns:a="http://schemas.openxmlformats.org/drawingml/2006/main">
              <a:ext uri="{FF2B5EF4-FFF2-40B4-BE49-F238E27FC236}">
                <a16:creationId xmlns:a16="http://schemas.microsoft.com/office/drawing/2014/main" id="{04EDE988-C8E5-4BCE-8885-1459CE709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15">
            <a:extLst xmlns:a="http://schemas.openxmlformats.org/drawingml/2006/main">
              <a:ext uri="{FF2B5EF4-FFF2-40B4-BE49-F238E27FC236}">
                <a16:creationId xmlns:a16="http://schemas.microsoft.com/office/drawing/2014/main" id="{D34EDF8C-C7E6-4173-A762-220DF8ABE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4191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3333"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sp>
        <p:nvSpPr>
          <p:cNvPr id="5" name="footer-15">
            <a:extLst xmlns:a="http://schemas.openxmlformats.org/drawingml/2006/main">
              <a:ext uri="{FF2B5EF4-FFF2-40B4-BE49-F238E27FC236}">
                <a16:creationId xmlns:a16="http://schemas.microsoft.com/office/drawing/2014/main" id="{024CA5C6-3829-4A3D-83E5-16CC4C0AD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HarnessLab  |  Architecture review  |  2026-08-14</a:t>
            </a:r>
          </a:p>
        </p:txBody>
      </p:sp>
      <p:sp>
        <p:nvSpPr>
          <p:cNvPr id="6" name="decision-num-0">
            <a:extLst xmlns:a="http://schemas.openxmlformats.org/drawingml/2006/main">
              <a:ext uri="{FF2B5EF4-FFF2-40B4-BE49-F238E27FC236}">
                <a16:creationId xmlns:a16="http://schemas.microsoft.com/office/drawing/2014/main" id="{5827E349-EE5A-439E-A2F5-5AD98D27E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76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decision-title-0">
            <a:extLst xmlns:a="http://schemas.openxmlformats.org/drawingml/2006/main">
              <a:ext uri="{FF2B5EF4-FFF2-40B4-BE49-F238E27FC236}">
                <a16:creationId xmlns:a16="http://schemas.microsoft.com/office/drawing/2014/main" id="{64FF4990-9D90-4ED9-A306-0E57BA538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1943100"/>
            <a:ext cx="3714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认可 contract-first 边界</a:t>
            </a:r>
          </a:p>
        </p:txBody>
      </p:sp>
      <p:sp>
        <p:nvSpPr>
          <p:cNvPr id="8" name="decision-desc-0">
            <a:extLst xmlns:a="http://schemas.openxmlformats.org/drawingml/2006/main">
              <a:ext uri="{FF2B5EF4-FFF2-40B4-BE49-F238E27FC236}">
                <a16:creationId xmlns:a16="http://schemas.microsoft.com/office/drawing/2014/main" id="{FA28FF38-7D77-4CCB-BC51-2BDCBA3A7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981200"/>
            <a:ext cx="504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先评审 lifecycle / policy / artifact，再扩 provider。</a:t>
            </a:r>
          </a:p>
        </p:txBody>
      </p:sp>
      <p:sp>
        <p:nvSpPr>
          <p:cNvPr id="9" name="decision-rule-0">
            <a:extLst xmlns:a="http://schemas.openxmlformats.org/drawingml/2006/main">
              <a:ext uri="{FF2B5EF4-FFF2-40B4-BE49-F238E27FC236}">
                <a16:creationId xmlns:a16="http://schemas.microsoft.com/office/drawing/2014/main" id="{FE5187D8-300C-4BA1-B5C1-63F444EA2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609850"/>
            <a:ext cx="9201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decision-num-1">
            <a:extLst xmlns:a="http://schemas.openxmlformats.org/drawingml/2006/main">
              <a:ext uri="{FF2B5EF4-FFF2-40B4-BE49-F238E27FC236}">
                <a16:creationId xmlns:a16="http://schemas.microsoft.com/office/drawing/2014/main" id="{1FBE19C8-979E-4FEB-8824-EEAD908A2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0"/>
            <a:ext cx="76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74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E7490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1" name="decision-title-1">
            <a:extLst xmlns:a="http://schemas.openxmlformats.org/drawingml/2006/main">
              <a:ext uri="{FF2B5EF4-FFF2-40B4-BE49-F238E27FC236}">
                <a16:creationId xmlns:a16="http://schemas.microsoft.com/office/drawing/2014/main" id="{0AE8AAF2-1DE5-4C09-9AF0-671C2EA0A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048000"/>
            <a:ext cx="3714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批准社区共建入口</a:t>
            </a:r>
          </a:p>
        </p:txBody>
      </p:sp>
      <p:sp>
        <p:nvSpPr>
          <p:cNvPr id="12" name="decision-desc-1">
            <a:extLst xmlns:a="http://schemas.openxmlformats.org/drawingml/2006/main">
              <a:ext uri="{FF2B5EF4-FFF2-40B4-BE49-F238E27FC236}">
                <a16:creationId xmlns:a16="http://schemas.microsoft.com/office/drawing/2014/main" id="{BF20A43E-B12F-4195-9184-16F0A345E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086100"/>
            <a:ext cx="504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issue / RFC → fixture → contract test → implementation。</a:t>
            </a:r>
          </a:p>
        </p:txBody>
      </p:sp>
      <p:sp>
        <p:nvSpPr>
          <p:cNvPr id="13" name="decision-rule-1">
            <a:extLst xmlns:a="http://schemas.openxmlformats.org/drawingml/2006/main">
              <a:ext uri="{FF2B5EF4-FFF2-40B4-BE49-F238E27FC236}">
                <a16:creationId xmlns:a16="http://schemas.microsoft.com/office/drawing/2014/main" id="{9F45B279-D788-448E-87E8-274B6C9A6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714750"/>
            <a:ext cx="9201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decision-num-2">
            <a:extLst xmlns:a="http://schemas.openxmlformats.org/drawingml/2006/main">
              <a:ext uri="{FF2B5EF4-FFF2-40B4-BE49-F238E27FC236}">
                <a16:creationId xmlns:a16="http://schemas.microsoft.com/office/drawing/2014/main" id="{BF5D2BF7-1654-4CDF-A70F-0959BE362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52900"/>
            <a:ext cx="76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379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3795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5" name="decision-title-2">
            <a:extLst xmlns:a="http://schemas.openxmlformats.org/drawingml/2006/main">
              <a:ext uri="{FF2B5EF4-FFF2-40B4-BE49-F238E27FC236}">
                <a16:creationId xmlns:a16="http://schemas.microsoft.com/office/drawing/2014/main" id="{B011B504-10B8-4197-B4B9-9AE8334F2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152900"/>
            <a:ext cx="3714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按真实能力投资规模</a:t>
            </a:r>
          </a:p>
        </p:txBody>
      </p:sp>
      <p:sp>
        <p:nvSpPr>
          <p:cNvPr id="16" name="decision-desc-2">
            <a:extLst xmlns:a="http://schemas.openxmlformats.org/drawingml/2006/main">
              <a:ext uri="{FF2B5EF4-FFF2-40B4-BE49-F238E27FC236}">
                <a16:creationId xmlns:a16="http://schemas.microsoft.com/office/drawing/2014/main" id="{1632F13C-DDEA-4FAD-A20C-E000886EF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191000"/>
            <a:ext cx="504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7719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以 Gateway、Storage、Eval、Ops 四个 package 形成 200k 的可维护增长。</a:t>
            </a:r>
          </a:p>
        </p:txBody>
      </p:sp>
      <p:sp>
        <p:nvSpPr>
          <p:cNvPr id="17" name="decision-rule-2">
            <a:extLst xmlns:a="http://schemas.openxmlformats.org/drawingml/2006/main">
              <a:ext uri="{FF2B5EF4-FFF2-40B4-BE49-F238E27FC236}">
                <a16:creationId xmlns:a16="http://schemas.microsoft.com/office/drawing/2014/main" id="{5A38C258-CE5F-4E87-9CC9-25609D202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819650"/>
            <a:ext cx="9201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decision-final">
            <a:extLst xmlns:a="http://schemas.openxmlformats.org/drawingml/2006/main">
              <a:ext uri="{FF2B5EF4-FFF2-40B4-BE49-F238E27FC236}">
                <a16:creationId xmlns:a16="http://schemas.microsoft.com/office/drawing/2014/main" id="{85EAA591-38B3-49E5-A992-EC9E7274C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10200"/>
            <a:ext cx="10820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F16"/>
          </a:solidFill>
          <a:ln xmlns:a="http://schemas.openxmlformats.org/drawingml/2006/main" w="9525">
            <a:solidFill>
              <a:srgbClr val="0B0F16"/>
            </a:solidFill>
            <a:prstDash val="solid"/>
          </a:ln>
        </p:spPr>
      </p:sp>
      <p:sp>
        <p:nvSpPr>
          <p:cNvPr id="19" name="decision-final-text">
            <a:extLst xmlns:a="http://schemas.openxmlformats.org/drawingml/2006/main">
              <a:ext uri="{FF2B5EF4-FFF2-40B4-BE49-F238E27FC236}">
                <a16:creationId xmlns:a16="http://schemas.microsoft.com/office/drawing/2014/main" id="{36D3FA09-6EF3-49E1-9BC0-BEBB01243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534025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HarnessLab 的价值主张：让 Agent 的每一次执行都能被限制、解释、恢复和证明。</a:t>
            </a:r>
          </a:p>
        </p:txBody>
      </p:sp>
    </p:spTree>
    <p:extLst>
      <p:ext uri="{BB962C8B-B14F-4D97-AF65-F5344CB8AC3E}">
        <p14:creationId xmlns:p14="http://schemas.microsoft.com/office/powerpoint/2010/main" val="195184184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2026-08-14T08:49:41.4840000Z</dcterms:created>
  <dcterms:modified xsi:type="dcterms:W3CDTF">2026-08-14T08:49:41.4840000Z</dcterms:modified>
</coreProperties>
</file>